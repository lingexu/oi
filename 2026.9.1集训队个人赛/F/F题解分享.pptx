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大家好！今天分享个人赛 F 题 Flipping Frenzy。我的做法是一条套路线：二维异或差分 + 图建模 + 树上配对。</a:t>
            </a:r>
          </a:p>
          <a:p>
            <a:r>
              <a:t>听起来唬人，其实每一步都是常见套路，我会重点讲"每一步为什么这么想"。</a:t>
            </a:r>
          </a:p>
          <a:p>
            <a:r>
              <a:t>最后想卖个关子：这份代码从头到尾没有专门处理第 1 行和第 1 列，最后却能 AC——为什么？答案在正确性的第三个事实里。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先读题：给一个 n 乘 m 的 01 网格，和 k 个二元组，每个二元组定义一种矩形的尺寸。</a:t>
            </a:r>
          </a:p>
          <a:p>
            <a:r>
              <a:t>一次操作：选一个二元组，把它的矩形放到网格上，要求左上角在第 1 行或者第 1 列，然后把矩形里所有格子翻转。</a:t>
            </a:r>
          </a:p>
          <a:p>
            <a:r>
              <a:t>目标是把网格全变 0，输出任意一组合法操作序列，格式是 r x y，表示第 r 个二元组、左上角 (x,y)。</a:t>
            </a:r>
          </a:p>
          <a:p>
            <a:r>
              <a:t>注意三点：同一个二元组可以重复使用；题目保证有解，不用做判断；答案条数不超过 k(n+m)——这个上界其实暗示了做法。</a:t>
            </a:r>
          </a:p>
          <a:p>
            <a:r>
              <a:t>约束：n、m 最大 1000 但总和不超过 1000，k 只有 20，测试组数最多 300。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翻转整个矩形很难处理，先做经典转化：二维异或差分。</a:t>
            </a:r>
          </a:p>
          <a:p>
            <a:r>
              <a:t>把网格向右、向下各补一行一列 0，变成 (n+1) 乘 (m+1)，定义 D[i][j] 是周围四个 A 的异或。</a:t>
            </a:r>
          </a:p>
          <a:p>
            <a:r>
              <a:t>两个关键性质：第一，A 是 D 的二维前缀异或，所以 A 全 0 等价于 D 全 0，目标就变成了把 D 清零；</a:t>
            </a:r>
          </a:p>
          <a:p>
            <a:r>
              <a:t>第二，翻转一个矩形，在 D 里只有四个角发生变化，内部全部两两抵消——强烈建议大家在纸上画一遍，这个抵消是理解整道题的基础。</a:t>
            </a:r>
          </a:p>
          <a:p>
            <a:r>
              <a:t>第三个性质先记住、最后收尾用：D 的每一行、每一列的异或和都是 0，因为 D 是"变化量"数组，一行内的变化加起来必然回到 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转化完之后，问题变成：一个 n+1 乘 m+1 的 01 数组，每次操作翻转某个矩形的四个角，问怎么清零。</a:t>
            </a:r>
          </a:p>
          <a:p>
            <a:r>
              <a:t>现在每次操作只动 4 个点，而且由于矩形必须贴第 1 行或第 1 列，这 4 个角的位置很有规律。</a:t>
            </a:r>
          </a:p>
          <a:p>
            <a:r>
              <a:t>下一步我们就从这个规律做文章。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看一次操作的 4 个角，按位置分三种情况：贴角 (1,1)、贴顶边、贴左边。</a:t>
            </a:r>
          </a:p>
          <a:p>
            <a:r>
              <a:t>不管哪种情况，4 个角里恰好有 2 个不在第 1 行、第 1 列——把这两个角叫"主端点"，另外两个必然落在第 1 行或第 1 列，叫"垃圾角"。</a:t>
            </a:r>
          </a:p>
          <a:p>
            <a:r>
              <a:t>关键一步：把两个主端点用一条边连起来，边权记录"第几个二元组、放在哪"。垃圾角先不管它。</a:t>
            </a:r>
          </a:p>
          <a:p>
            <a:r>
              <a:t>注意：要枚举所有合法位置、全部连边——这一步是整个做法的灵魂，后面证明要用到"任何操作的两个主端点都在同一条边上"。</a:t>
            </a:r>
          </a:p>
          <a:p>
            <a:r>
              <a:t>边数：每个二元组最多 n+m-1 条，总数不超过 k(n+m)，恰好就是答案条数的上界。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图建好之后做 DFS 生成森林，然后自底向上配对：处理完孩子 v 后，如果 D[v] 还是 1，就用边 (u,v) 上的操作——</a:t>
            </a:r>
          </a:p>
          <a:p>
            <a:r>
              <a:t>它同时翻转 v 和 u，于是 v 归零、u 取反，把奇偶性传给父亲继续处理。</a:t>
            </a:r>
          </a:p>
          <a:p>
            <a:r>
              <a:t>这是经典套路：树上奇数点配对。任取一棵生成树，每个点要么被父边解决，要么把 1 传上去，</a:t>
            </a:r>
          </a:p>
          <a:p>
            <a:r>
              <a:t>相当于让 D 里的 1 在树上两两配对、沿途抵消。整棵树处理完，除根以外全部归零。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正确性分三块，第一块最简单：非根点归零是构造出来的。</a:t>
            </a:r>
          </a:p>
          <a:p>
            <a:r>
              <a:t>每个孩子 v 最终被翻转的次数，等于它孩子边的翻转次数，加上父边（当且仅当 D[v]=1 时再用一次），</a:t>
            </a:r>
          </a:p>
          <a:p>
            <a:r>
              <a:t>两者加起来恰好把初始值消成 0。这个不用多论证，看图上的式子。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第二块：根为什么也归零？</a:t>
            </a:r>
          </a:p>
          <a:p>
            <a:r>
              <a:t>先证一个引理：任意连通块内，D0 的 1 的个数一定是偶数。</a:t>
            </a:r>
          </a:p>
          <a:p>
            <a:r>
              <a:t>原因分三步：题目保证有解，所以 D0 是若干个操作的异或和；</a:t>
            </a:r>
          </a:p>
          <a:p>
            <a:r>
              <a:t>而每个操作的两个主端点在同一个连通块里——这就是刚才"枚举所有合法位置连边"的目的；</a:t>
            </a:r>
          </a:p>
          <a:p>
            <a:r>
              <a:t>另外两个垃圾角是边界孤立点，不属于任何有边的块。所以每个操作对每个块贡献 0 个或 2 个 1。</a:t>
            </a:r>
          </a:p>
          <a:p>
            <a:r>
              <a:t>又因为每使用一条边，恰好翻转块内两个点，树内翻转总数恒为偶。</a:t>
            </a:r>
          </a:p>
          <a:p>
            <a:r>
              <a:t>于是所有非根点清零之后，根的值就等于块内 D0 的总和，也就是 0。</a:t>
            </a:r>
          </a:p>
          <a:p>
            <a:r>
              <a:t>(1,1) 是 DFS 的第一个点，它所在树的根就是它自己，所以 (1,1) 也归零。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现在揭开悬念：垃圾角怎么办？答案是——它们会自动归零，代码不需要管。</a:t>
            </a:r>
          </a:p>
          <a:p>
            <a:r>
              <a:t>先看内部孤立点：没有任何操作能碰到它，有解所以它初始就是 0。</a:t>
            </a:r>
          </a:p>
          <a:p>
            <a:r>
              <a:t>于是整张 D 里只剩第 1 行、第 1 列可能还有 1。</a:t>
            </a:r>
          </a:p>
          <a:p>
            <a:r>
              <a:t>收尾用行列奇偶性守恒：任意一次操作在任意一行里恰好翻转两个角——矩形的四个角本来就两两成行成列——</a:t>
            </a:r>
          </a:p>
          <a:p>
            <a:r>
              <a:t>所以每行的异或和在操作下不变；而 D0 每行的异或和本来就是 0。</a:t>
            </a:r>
          </a:p>
          <a:p>
            <a:r>
              <a:t>行内其他格子已经全 0，所以第 1 列这个格子必为 0。列同理，第 1 行也全 0。</a:t>
            </a:r>
          </a:p>
          <a:p>
            <a:r>
              <a:t>这就是垃圾角被"顺带解决"的原因：守恒律在兜底，不是运气。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跑一个小例子：3 乘 3 网格，左上角一个 2 乘 2 的 1 块，二元组 (2,2)。</a:t>
            </a:r>
          </a:p>
          <a:p>
            <a:r>
              <a:t>差分之后，D 里 1 的位置恰好是四个角。</a:t>
            </a:r>
          </a:p>
          <a:p>
            <a:r>
              <a:t>图上有三条边。DFS 时 (1,1) 的子树只有 (3,3)，D[3][3]=1，所以使用操作 (1,1,1)：</a:t>
            </a:r>
          </a:p>
          <a:p>
            <a:r>
              <a:t>它翻转主端点 (1,1)、(3,3)，垃圾角 (1,3)、(3,1)，4 个 1 全部归零。输出就是一行 1 1 1。</a:t>
            </a:r>
          </a:p>
          <a:p>
            <a:r>
              <a:t>注意垃圾角 (1,3)、(3,1) 初始恰好都是 1，被这一次操作顺带解决——这就是第三个事实在起作用。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复杂度：点数 (n+1)(m+1)，边数不超过 k(n+m)，单测例 O(nm + k(n+m))，十万到百万量级，完全够。</a:t>
            </a:r>
          </a:p>
          <a:p>
            <a:r>
              <a:t>实现细节：差分原地做，从右下角倒序枚举，保证右侧取到的是原始值；</a:t>
            </a:r>
          </a:p>
          <a:p>
            <a:r>
              <a:t>建边就是三重循环；多测时 vis 整块清零、邻接表只清到 n+1、m+1。</a:t>
            </a:r>
          </a:p>
          <a:p>
            <a:r>
              <a:t>这些在题解文档里都有对应的代码行号。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总结一下套路链：翻转问题先差分，每次操作变成动 4 个点；</a:t>
            </a:r>
          </a:p>
          <a:p>
            <a:r>
              <a:t>然后把"主端点"连成边、"垃圾角"丢给边界，变成树上配对问题；</a:t>
            </a:r>
          </a:p>
          <a:p>
            <a:r>
              <a:t>最后用奇偶守恒证明边界自动解决。</a:t>
            </a:r>
          </a:p>
          <a:p>
            <a:r>
              <a:t>两个可迁移的点：第一，"保证有解"本身就是一个强大的信息，我们的证明里用了两次——块内偶数、孤立点为 0；</a:t>
            </a:r>
          </a:p>
          <a:p>
            <a:r>
              <a:t>第二，代码里没写的部分，往往要用不变量来证明正确——这里是行列奇偶性。</a:t>
            </a:r>
          </a:p>
          <a:p>
            <a:r>
              <a:t>谢谢大家，欢迎提问。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457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PingFang SC"/>
                <a:ea typeface="PingFang SC"/>
              </a:rPr>
              <a:t>F. Flipping Frenzy 题解分享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400" b="0" i="0">
                <a:solidFill>
                  <a:srgbClr val="DCE9F7"/>
                </a:solidFill>
                <a:latin typeface="PingFang SC"/>
                <a:ea typeface="PingFang SC"/>
              </a:rPr>
              <a:t>二维异或差分 × 图建模 × 树上配对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600" b="0" i="0">
                <a:solidFill>
                  <a:srgbClr val="B9C7DF"/>
                </a:solidFill>
                <a:latin typeface="PingFang SC"/>
                <a:ea typeface="PingFang SC"/>
              </a:rPr>
              <a:t>2026.9.1 集训队个人赛 · 分享交流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300" b="0" i="0">
                <a:solidFill>
                  <a:srgbClr val="8FA3C4"/>
                </a:solidFill>
                <a:latin typeface="PingFang SC"/>
                <a:ea typeface="PingFang SC"/>
              </a:rPr>
              <a:t>原题：Codeforces Gym 106600 F · 题解与代码见同目录「题解.md / F.cpp」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73152"/>
          <a:lstStyle/>
          <a:p>
            <a:pPr algn="ctr"/>
            <a:r>
              <a:rPr sz="2800" b="1" i="0">
                <a:solidFill>
                  <a:srgbClr val="FFFFFF"/>
                </a:solidFill>
                <a:latin typeface="PingFang SC"/>
                <a:ea typeface="PingFang SC"/>
              </a:rPr>
              <a:t>题意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6766560" cy="4206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1200"/>
              </a:spcAft>
            </a:pPr>
            <a:r>
              <a:rPr sz="20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000" b="0" i="0">
                <a:solidFill>
                  <a:srgbClr val="262626"/>
                </a:solidFill>
                <a:latin typeface="PingFang SC"/>
                <a:ea typeface="PingFang SC"/>
              </a:rPr>
              <a:t>给定 n×m 的 </a:t>
            </a:r>
            <a:r>
              <a:rPr sz="2000" b="1" i="0">
                <a:solidFill>
                  <a:srgbClr val="2E75B6"/>
                </a:solidFill>
                <a:latin typeface="PingFang SC"/>
                <a:ea typeface="PingFang SC"/>
              </a:rPr>
              <a:t>01 网格</a:t>
            </a:r>
            <a:r>
              <a:rPr sz="2000" b="0" i="0">
                <a:solidFill>
                  <a:srgbClr val="262626"/>
                </a:solidFill>
                <a:latin typeface="PingFang SC"/>
                <a:ea typeface="PingFang SC"/>
              </a:rPr>
              <a:t> 与 k 个二元组 (a₁,b₁) … (a_k,b_k)，两两不同</a:t>
            </a:r>
          </a:p>
          <a:p>
            <a:pPr>
              <a:spcAft>
                <a:spcPts val="1200"/>
              </a:spcAft>
            </a:pPr>
            <a:r>
              <a:rPr sz="20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000" b="0" i="0">
                <a:solidFill>
                  <a:srgbClr val="262626"/>
                </a:solidFill>
                <a:latin typeface="PingFang SC"/>
                <a:ea typeface="PingFang SC"/>
              </a:rPr>
              <a:t>一次操作：选第 i 个二元组，翻转一个 </a:t>
            </a:r>
            <a:r>
              <a:rPr sz="2000" b="1" i="0">
                <a:solidFill>
                  <a:srgbClr val="2E75B6"/>
                </a:solidFill>
                <a:latin typeface="PingFang SC"/>
                <a:ea typeface="PingFang SC"/>
              </a:rPr>
              <a:t>aᵢ × bᵢ</a:t>
            </a:r>
            <a:r>
              <a:rPr sz="2000" b="0" i="0">
                <a:solidFill>
                  <a:srgbClr val="262626"/>
                </a:solidFill>
                <a:latin typeface="PingFang SC"/>
                <a:ea typeface="PingFang SC"/>
              </a:rPr>
              <a:t> 的矩形</a:t>
            </a:r>
          </a:p>
          <a:p>
            <a:pPr>
              <a:spcAft>
                <a:spcPts val="1200"/>
              </a:spcAft>
            </a:pPr>
            <a:r>
              <a:rPr sz="20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000" b="1" i="0">
                <a:solidFill>
                  <a:srgbClr val="262626"/>
                </a:solidFill>
                <a:latin typeface="PingFang SC"/>
                <a:ea typeface="PingFang SC"/>
              </a:rPr>
              <a:t>矩形左上角必须在第 1 行或第 1 列</a:t>
            </a:r>
            <a:r>
              <a:rPr sz="2000" b="0" i="0">
                <a:solidFill>
                  <a:srgbClr val="262626"/>
                </a:solidFill>
                <a:latin typeface="PingFang SC"/>
                <a:ea typeface="PingFang SC"/>
              </a:rPr>
              <a:t>，且矩形不能越界</a:t>
            </a:r>
          </a:p>
          <a:p>
            <a:pPr>
              <a:spcAft>
                <a:spcPts val="1200"/>
              </a:spcAft>
            </a:pPr>
            <a:r>
              <a:rPr sz="20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000" b="0" i="0">
                <a:solidFill>
                  <a:srgbClr val="262626"/>
                </a:solidFill>
                <a:latin typeface="PingFang SC"/>
                <a:ea typeface="PingFang SC"/>
              </a:rPr>
              <a:t>目标：全变 0；输出操作序列 </a:t>
            </a:r>
            <a:r>
              <a:rPr sz="2000" b="1" i="0">
                <a:solidFill>
                  <a:srgbClr val="2E75B6"/>
                </a:solidFill>
                <a:latin typeface="PingFang SC"/>
                <a:ea typeface="PingFang SC"/>
              </a:rPr>
              <a:t>r x y</a:t>
            </a:r>
            <a:r>
              <a:rPr sz="2000" b="0" i="0">
                <a:solidFill>
                  <a:srgbClr val="262626"/>
                </a:solidFill>
                <a:latin typeface="PingFang SC"/>
                <a:ea typeface="PingFang SC"/>
              </a:rPr>
              <a:t>（第 r 个二元组，左上角 (x,y)）</a:t>
            </a:r>
          </a:p>
          <a:p>
            <a:pPr>
              <a:spcAft>
                <a:spcPts val="1200"/>
              </a:spcAft>
            </a:pPr>
            <a:r>
              <a:rPr sz="20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000" b="0" i="0">
                <a:solidFill>
                  <a:srgbClr val="262626"/>
                </a:solidFill>
                <a:latin typeface="PingFang SC"/>
                <a:ea typeface="PingFang SC"/>
              </a:rPr>
              <a:t>同一个二元组可重复使用；输出条数 </a:t>
            </a:r>
            <a:r>
              <a:rPr sz="2000" b="1" i="0">
                <a:solidFill>
                  <a:srgbClr val="2E75B6"/>
                </a:solidFill>
                <a:latin typeface="PingFang SC"/>
                <a:ea typeface="PingFang SC"/>
              </a:rPr>
              <a:t>op ≤ k(n+m)</a:t>
            </a:r>
          </a:p>
          <a:p>
            <a:pPr>
              <a:spcAft>
                <a:spcPts val="1200"/>
              </a:spcAft>
            </a:pPr>
            <a:r>
              <a:rPr sz="20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000" b="1" i="0">
                <a:solidFill>
                  <a:srgbClr val="C55A11"/>
                </a:solidFill>
                <a:latin typeface="PingFang SC"/>
                <a:ea typeface="PingFang SC"/>
              </a:rPr>
              <a:t>题目保证有解</a:t>
            </a:r>
            <a:r>
              <a:rPr sz="2000" b="0" i="0">
                <a:solidFill>
                  <a:srgbClr val="262626"/>
                </a:solidFill>
                <a:latin typeface="PingFang SC"/>
                <a:ea typeface="PingFang SC"/>
              </a:rPr>
              <a:t>，输出任意合法方案即可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9320"/>
            <a:ext cx="676656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0" i="0">
                <a:solidFill>
                  <a:srgbClr val="7F7F7F"/>
                </a:solidFill>
                <a:latin typeface="PingFang SC"/>
                <a:ea typeface="PingFang SC"/>
              </a:rPr>
              <a:t>约束：n, m ≤ 1000（Σn、Σm ≤ 1000）· k ≤ 20 · t ≤ 300</a:t>
            </a:r>
          </a:p>
        </p:txBody>
      </p:sp>
      <p:sp>
        <p:nvSpPr>
          <p:cNvPr id="6" name="Rectangle 5"/>
          <p:cNvSpPr/>
          <p:nvPr/>
        </p:nvSpPr>
        <p:spPr>
          <a:xfrm>
            <a:off x="8769096" y="1783080"/>
            <a:ext cx="566928" cy="1133856"/>
          </a:xfrm>
          <a:prstGeom prst="rect">
            <a:avLst/>
          </a:prstGeom>
          <a:solidFill>
            <a:srgbClr val="DF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35240" y="2916936"/>
            <a:ext cx="1133856" cy="566928"/>
          </a:xfrm>
          <a:prstGeom prst="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35240" y="1783080"/>
            <a:ext cx="1133856" cy="1133856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7924" y="1783080"/>
            <a:ext cx="14630" cy="226771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1775764"/>
            <a:ext cx="2267712" cy="1463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94852" y="1783080"/>
            <a:ext cx="14630" cy="226771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5240" y="2342692"/>
            <a:ext cx="2267712" cy="1463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61780" y="1783080"/>
            <a:ext cx="14630" cy="226771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2909620"/>
            <a:ext cx="2267712" cy="1463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28708" y="1783080"/>
            <a:ext cx="14630" cy="226771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3476548"/>
            <a:ext cx="2267712" cy="1463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895636" y="1783080"/>
            <a:ext cx="14630" cy="226771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4043476"/>
            <a:ext cx="2267712" cy="1463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4343400"/>
            <a:ext cx="26517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300" b="0" i="0">
                <a:solidFill>
                  <a:srgbClr val="2E75B6"/>
                </a:solidFill>
                <a:latin typeface="PingFang SC"/>
                <a:ea typeface="PingFang SC"/>
              </a:rPr>
              <a:t>■ 贴角：左上角 (1,1)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4709160"/>
            <a:ext cx="26517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300" b="0" i="0">
                <a:solidFill>
                  <a:srgbClr val="538A4B"/>
                </a:solidFill>
                <a:latin typeface="PingFang SC"/>
                <a:ea typeface="PingFang SC"/>
              </a:rPr>
              <a:t>■ 贴顶边：在第 1 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5074920"/>
            <a:ext cx="26517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300" b="0" i="0">
                <a:solidFill>
                  <a:srgbClr val="C55A11"/>
                </a:solidFill>
                <a:latin typeface="PingFang SC"/>
                <a:ea typeface="PingFang SC"/>
              </a:rPr>
              <a:t>■ 贴左边：在第 1 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73952"/>
            <a:ext cx="1600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PingFang SC"/>
                <a:ea typeface="PingFang SC"/>
              </a:rPr>
              <a:t>F. Flipping Frenzy · 1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73152"/>
          <a:lstStyle/>
          <a:p>
            <a:pPr algn="ctr"/>
            <a:r>
              <a:rPr sz="2800" b="1" i="0">
                <a:solidFill>
                  <a:srgbClr val="FFFFFF"/>
                </a:solidFill>
                <a:latin typeface="PingFang SC"/>
                <a:ea typeface="PingFang SC"/>
              </a:rPr>
              <a:t>第一步：二维异或差分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051560"/>
          </a:xfrm>
          <a:prstGeom prst="round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2600" b="1" i="0">
                <a:solidFill>
                  <a:srgbClr val="1F3864"/>
                </a:solidFill>
                <a:latin typeface="PingFang SC"/>
                <a:ea typeface="PingFang SC"/>
              </a:rPr>
              <a:t>D[i][j] = A[i][j] ⊕ A[i−1][j] ⊕ A[i][j−1] ⊕ A[i−1][j−1]</a:t>
            </a:r>
          </a:p>
          <a:p>
            <a:pPr algn="ctr">
              <a:spcBef>
                <a:spcPts val="600"/>
              </a:spcBef>
            </a:pPr>
            <a:r>
              <a:rPr sz="1500" b="0" i="0">
                <a:solidFill>
                  <a:srgbClr val="2E75B6"/>
                </a:solidFill>
                <a:latin typeface="PingFang SC"/>
                <a:ea typeface="PingFang SC"/>
              </a:rPr>
              <a:t>网格补 0 扩展成 (n+1)×(m+1)，多出来的格子按 0 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34747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1200"/>
              </a:spcAft>
            </a:pP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性质 1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：A 是 D 的二维前缀异和 ⇒ </a:t>
            </a:r>
            <a:r>
              <a:rPr sz="2100" b="1" i="0">
                <a:solidFill>
                  <a:srgbClr val="262626"/>
                </a:solidFill>
                <a:latin typeface="PingFang SC"/>
                <a:ea typeface="PingFang SC"/>
              </a:rPr>
              <a:t>A 全 0 ⟺ D 全 0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（目标换成清零 D）</a:t>
            </a: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性质 2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：翻转矩形 ⟺ 在 D 里恰好翻转 </a:t>
            </a: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4 个角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（矩形内部两两抵消）</a:t>
            </a: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性质 3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：D 的每一行、每一列的异或和都为 0 —— 最后收尾会用到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0" i="0">
                <a:solidFill>
                  <a:srgbClr val="7F7F7F"/>
                </a:solidFill>
                <a:latin typeface="PingFang SC"/>
                <a:ea typeface="PingFang SC"/>
              </a:rPr>
              <a:t>性质 2 建议现场手推一遍：内部点的贡献恰好两两抵消，只有 4 个角各剩一次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1600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PingFang SC"/>
                <a:ea typeface="PingFang SC"/>
              </a:rPr>
              <a:t>F. Flipping Frenzy · 2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73152"/>
          <a:lstStyle/>
          <a:p>
            <a:pPr algn="ctr"/>
            <a:r>
              <a:rPr sz="2800" b="1" i="0">
                <a:solidFill>
                  <a:srgbClr val="FFFFFF"/>
                </a:solidFill>
                <a:latin typeface="PingFang SC"/>
                <a:ea typeface="PingFang SC"/>
              </a:rPr>
              <a:t>转化后的问题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" y="2148840"/>
            <a:ext cx="3291840" cy="2103120"/>
          </a:xfrm>
          <a:prstGeom prst="rect">
            <a:avLst/>
          </a:prstGeom>
          <a:noFill/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" y="2066544"/>
            <a:ext cx="164592" cy="164592"/>
          </a:xfrm>
          <a:prstGeom prst="ellipse">
            <a:avLst/>
          </a:prstGeom>
          <a:solidFill>
            <a:srgbClr val="C55A1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56232"/>
            <a:ext cx="1188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 i="0">
                <a:solidFill>
                  <a:srgbClr val="C55A11"/>
                </a:solidFill>
                <a:latin typeface="PingFang SC"/>
                <a:ea typeface="PingFang SC"/>
              </a:rPr>
              <a:t>(x, y)</a:t>
            </a:r>
          </a:p>
        </p:txBody>
      </p:sp>
      <p:sp>
        <p:nvSpPr>
          <p:cNvPr id="7" name="Oval 6"/>
          <p:cNvSpPr/>
          <p:nvPr/>
        </p:nvSpPr>
        <p:spPr>
          <a:xfrm>
            <a:off x="4169664" y="2066544"/>
            <a:ext cx="164592" cy="164592"/>
          </a:xfrm>
          <a:prstGeom prst="ellipse">
            <a:avLst/>
          </a:prstGeom>
          <a:solidFill>
            <a:srgbClr val="C55A1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6008" y="1856232"/>
            <a:ext cx="1188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 i="0">
                <a:solidFill>
                  <a:srgbClr val="C55A11"/>
                </a:solidFill>
                <a:latin typeface="PingFang SC"/>
                <a:ea typeface="PingFang SC"/>
              </a:rPr>
              <a:t>(x, y+b)</a:t>
            </a:r>
          </a:p>
        </p:txBody>
      </p:sp>
      <p:sp>
        <p:nvSpPr>
          <p:cNvPr id="9" name="Oval 8"/>
          <p:cNvSpPr/>
          <p:nvPr/>
        </p:nvSpPr>
        <p:spPr>
          <a:xfrm>
            <a:off x="877824" y="4169664"/>
            <a:ext cx="164592" cy="164592"/>
          </a:xfrm>
          <a:prstGeom prst="ellipse">
            <a:avLst/>
          </a:prstGeom>
          <a:solidFill>
            <a:srgbClr val="C55A1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526280"/>
            <a:ext cx="1188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 i="0">
                <a:solidFill>
                  <a:srgbClr val="C55A11"/>
                </a:solidFill>
                <a:latin typeface="PingFang SC"/>
                <a:ea typeface="PingFang SC"/>
              </a:rPr>
              <a:t>(x+a, y)</a:t>
            </a:r>
          </a:p>
        </p:txBody>
      </p:sp>
      <p:sp>
        <p:nvSpPr>
          <p:cNvPr id="11" name="Oval 10"/>
          <p:cNvSpPr/>
          <p:nvPr/>
        </p:nvSpPr>
        <p:spPr>
          <a:xfrm>
            <a:off x="4169664" y="4169664"/>
            <a:ext cx="164592" cy="164592"/>
          </a:xfrm>
          <a:prstGeom prst="ellipse">
            <a:avLst/>
          </a:prstGeom>
          <a:solidFill>
            <a:srgbClr val="C55A1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4526280"/>
            <a:ext cx="1188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 i="0">
                <a:solidFill>
                  <a:srgbClr val="C55A11"/>
                </a:solidFill>
                <a:latin typeface="PingFang SC"/>
                <a:ea typeface="PingFang SC"/>
              </a:rPr>
              <a:t>(x+a, y+b)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329184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0" i="0">
                <a:solidFill>
                  <a:srgbClr val="7F7F7F"/>
                </a:solidFill>
                <a:latin typeface="PingFang SC"/>
                <a:ea typeface="PingFang SC"/>
              </a:rPr>
              <a:t>翻转这个矩形 ⟺ 翻这 4 个角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828800"/>
            <a:ext cx="6583680" cy="4206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新目标：把 </a:t>
            </a: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(n+1)×(m+1)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 的 D 数组清零</a:t>
            </a: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每次操作只动 </a:t>
            </a: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4 个点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，其余全部抵消</a:t>
            </a: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矩形贴第 1 行 / 第 1 列 ⇒ 4 个角的位置很有规律</a:t>
            </a: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→ 下一步：把一次操作建模成图上的一条边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73952"/>
            <a:ext cx="1600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PingFang SC"/>
                <a:ea typeface="PingFang SC"/>
              </a:rPr>
              <a:t>F. Flipping Frenzy · 3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73152"/>
          <a:lstStyle/>
          <a:p>
            <a:pPr algn="ctr"/>
            <a:r>
              <a:rPr sz="2800" b="1" i="0">
                <a:solidFill>
                  <a:srgbClr val="FFFFFF"/>
                </a:solidFill>
                <a:latin typeface="PingFang SC"/>
                <a:ea typeface="PingFang SC"/>
              </a:rPr>
              <a:t>第二步：把一次操作变成一条边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155680" cy="11887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9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1900" b="0" i="0">
                <a:solidFill>
                  <a:srgbClr val="262626"/>
                </a:solidFill>
                <a:latin typeface="PingFang SC"/>
                <a:ea typeface="PingFang SC"/>
              </a:rPr>
              <a:t>4 个角中恰有 </a:t>
            </a:r>
            <a:r>
              <a:rPr sz="1900" b="1" i="0">
                <a:solidFill>
                  <a:srgbClr val="2E75B6"/>
                </a:solidFill>
                <a:latin typeface="PingFang SC"/>
                <a:ea typeface="PingFang SC"/>
              </a:rPr>
              <a:t>2 个不在第 1 行/第 1 列</a:t>
            </a:r>
            <a:r>
              <a:rPr sz="1900" b="0" i="0">
                <a:solidFill>
                  <a:srgbClr val="262626"/>
                </a:solidFill>
                <a:latin typeface="PingFang SC"/>
                <a:ea typeface="PingFang SC"/>
              </a:rPr>
              <a:t> → </a:t>
            </a:r>
            <a:r>
              <a:rPr sz="1900" b="1" i="0">
                <a:solidFill>
                  <a:srgbClr val="262626"/>
                </a:solidFill>
                <a:latin typeface="PingFang SC"/>
                <a:ea typeface="PingFang SC"/>
              </a:rPr>
              <a:t>主端点</a:t>
            </a:r>
            <a:r>
              <a:rPr sz="1900" b="0" i="0">
                <a:solidFill>
                  <a:srgbClr val="262626"/>
                </a:solidFill>
                <a:latin typeface="PingFang SC"/>
                <a:ea typeface="PingFang SC"/>
              </a:rPr>
              <a:t>；另 2 个必在第 1 行/第 1 列 → </a:t>
            </a:r>
            <a:r>
              <a:rPr sz="1900" b="1" i="0">
                <a:solidFill>
                  <a:srgbClr val="262626"/>
                </a:solidFill>
                <a:latin typeface="PingFang SC"/>
                <a:ea typeface="PingFang SC"/>
              </a:rPr>
              <a:t>垃圾角</a:t>
            </a:r>
            <a:r>
              <a:rPr sz="1900" b="0" i="0">
                <a:solidFill>
                  <a:srgbClr val="262626"/>
                </a:solidFill>
                <a:latin typeface="PingFang SC"/>
                <a:ea typeface="PingFang SC"/>
              </a:rPr>
              <a:t>（先不管）</a:t>
            </a:r>
          </a:p>
          <a:p>
            <a:pPr>
              <a:spcAft>
                <a:spcPts val="800"/>
              </a:spcAft>
            </a:pPr>
            <a:r>
              <a:rPr sz="19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1900" b="0" i="0">
                <a:solidFill>
                  <a:srgbClr val="262626"/>
                </a:solidFill>
                <a:latin typeface="PingFang SC"/>
                <a:ea typeface="PingFang SC"/>
              </a:rPr>
              <a:t>主端点之间连一条边，边权 = 该次操作 {r, x, y}；</a:t>
            </a:r>
            <a:r>
              <a:rPr sz="1900" b="1" i="0">
                <a:solidFill>
                  <a:srgbClr val="2E75B6"/>
                </a:solidFill>
                <a:latin typeface="PingFang SC"/>
                <a:ea typeface="PingFang SC"/>
              </a:rPr>
              <a:t>枚举所有合法位置全部连边</a:t>
            </a:r>
            <a:r>
              <a:rPr sz="1900" b="0" i="0">
                <a:solidFill>
                  <a:srgbClr val="262626"/>
                </a:solidFill>
                <a:latin typeface="PingFang SC"/>
                <a:ea typeface="PingFang SC"/>
              </a:rPr>
              <a:t>（灵魂设计）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2743200"/>
            <a:ext cx="1371600" cy="960120"/>
          </a:xfrm>
          <a:prstGeom prst="rect">
            <a:avLst/>
          </a:prstGeom>
          <a:noFill/>
          <a:ln w="2286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3836" y="2665476"/>
            <a:ext cx="155448" cy="155448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2468880"/>
            <a:ext cx="13716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PingFang SC"/>
                <a:ea typeface="PingFang SC"/>
              </a:rPr>
              <a:t>(1,1)</a:t>
            </a:r>
          </a:p>
        </p:txBody>
      </p:sp>
      <p:sp>
        <p:nvSpPr>
          <p:cNvPr id="8" name="Oval 7"/>
          <p:cNvSpPr/>
          <p:nvPr/>
        </p:nvSpPr>
        <p:spPr>
          <a:xfrm>
            <a:off x="2345436" y="2665476"/>
            <a:ext cx="155448" cy="155448"/>
          </a:xfrm>
          <a:prstGeom prst="ellipse">
            <a:avLst/>
          </a:prstGeom>
          <a:solidFill>
            <a:srgbClr val="7F7F7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32887" y="2468880"/>
            <a:ext cx="13716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00" b="1" i="0">
                <a:solidFill>
                  <a:srgbClr val="7F7F7F"/>
                </a:solidFill>
                <a:latin typeface="PingFang SC"/>
                <a:ea typeface="PingFang SC"/>
              </a:rPr>
              <a:t>(1,C)</a:t>
            </a:r>
          </a:p>
        </p:txBody>
      </p:sp>
      <p:sp>
        <p:nvSpPr>
          <p:cNvPr id="10" name="Oval 9"/>
          <p:cNvSpPr/>
          <p:nvPr/>
        </p:nvSpPr>
        <p:spPr>
          <a:xfrm>
            <a:off x="973836" y="3625596"/>
            <a:ext cx="155448" cy="155448"/>
          </a:xfrm>
          <a:prstGeom prst="ellipse">
            <a:avLst/>
          </a:prstGeom>
          <a:solidFill>
            <a:srgbClr val="7F7F7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3959352"/>
            <a:ext cx="13716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00" b="1" i="0">
                <a:solidFill>
                  <a:srgbClr val="7F7F7F"/>
                </a:solidFill>
                <a:latin typeface="PingFang SC"/>
                <a:ea typeface="PingFang SC"/>
              </a:rPr>
              <a:t>(R,1)</a:t>
            </a:r>
          </a:p>
        </p:txBody>
      </p:sp>
      <p:sp>
        <p:nvSpPr>
          <p:cNvPr id="12" name="Oval 11"/>
          <p:cNvSpPr/>
          <p:nvPr/>
        </p:nvSpPr>
        <p:spPr>
          <a:xfrm>
            <a:off x="2345436" y="3625596"/>
            <a:ext cx="155448" cy="155448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32887" y="3959352"/>
            <a:ext cx="13716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PingFang SC"/>
                <a:ea typeface="PingFang SC"/>
              </a:rPr>
              <a:t>(R,C)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51560" y="2743200"/>
            <a:ext cx="1371600" cy="960120"/>
          </a:xfrm>
          <a:prstGeom prst="line">
            <a:avLst/>
          </a:prstGeom>
          <a:ln w="3175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39" y="4343400"/>
            <a:ext cx="237744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PingFang SC"/>
                <a:ea typeface="PingFang SC"/>
              </a:rPr>
              <a:t>贴角 (1,1)：主端点 (1,1)、(R,C)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2743200"/>
            <a:ext cx="1371600" cy="960120"/>
          </a:xfrm>
          <a:prstGeom prst="rect">
            <a:avLst/>
          </a:prstGeom>
          <a:noFill/>
          <a:ln w="2286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31436" y="2665476"/>
            <a:ext cx="155448" cy="155448"/>
          </a:xfrm>
          <a:prstGeom prst="ellipse">
            <a:avLst/>
          </a:prstGeom>
          <a:solidFill>
            <a:srgbClr val="7F7F7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42232" y="2468880"/>
            <a:ext cx="13716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00" b="1" i="0">
                <a:solidFill>
                  <a:srgbClr val="7F7F7F"/>
                </a:solidFill>
                <a:latin typeface="PingFang SC"/>
                <a:ea typeface="PingFang SC"/>
              </a:rPr>
              <a:t>(1,y)</a:t>
            </a:r>
          </a:p>
        </p:txBody>
      </p:sp>
      <p:sp>
        <p:nvSpPr>
          <p:cNvPr id="19" name="Oval 18"/>
          <p:cNvSpPr/>
          <p:nvPr/>
        </p:nvSpPr>
        <p:spPr>
          <a:xfrm>
            <a:off x="6003036" y="2665476"/>
            <a:ext cx="155448" cy="155448"/>
          </a:xfrm>
          <a:prstGeom prst="ellipse">
            <a:avLst/>
          </a:prstGeom>
          <a:solidFill>
            <a:srgbClr val="7F7F7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0488" y="2468880"/>
            <a:ext cx="13716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00" b="1" i="0">
                <a:solidFill>
                  <a:srgbClr val="7F7F7F"/>
                </a:solidFill>
                <a:latin typeface="PingFang SC"/>
                <a:ea typeface="PingFang SC"/>
              </a:rPr>
              <a:t>(1,y+b)</a:t>
            </a:r>
          </a:p>
        </p:txBody>
      </p:sp>
      <p:sp>
        <p:nvSpPr>
          <p:cNvPr id="21" name="Oval 20"/>
          <p:cNvSpPr/>
          <p:nvPr/>
        </p:nvSpPr>
        <p:spPr>
          <a:xfrm>
            <a:off x="4631436" y="3625596"/>
            <a:ext cx="155448" cy="155448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42232" y="3959352"/>
            <a:ext cx="13716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PingFang SC"/>
                <a:ea typeface="PingFang SC"/>
              </a:rPr>
              <a:t>(R,y)</a:t>
            </a:r>
          </a:p>
        </p:txBody>
      </p:sp>
      <p:sp>
        <p:nvSpPr>
          <p:cNvPr id="23" name="Oval 22"/>
          <p:cNvSpPr/>
          <p:nvPr/>
        </p:nvSpPr>
        <p:spPr>
          <a:xfrm>
            <a:off x="6003036" y="3625596"/>
            <a:ext cx="155448" cy="155448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0488" y="3959352"/>
            <a:ext cx="13716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PingFang SC"/>
                <a:ea typeface="PingFang SC"/>
              </a:rPr>
              <a:t>(R,y+b)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709160" y="3703320"/>
            <a:ext cx="1371600" cy="0"/>
          </a:xfrm>
          <a:prstGeom prst="line">
            <a:avLst/>
          </a:prstGeom>
          <a:ln w="3175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206240" y="4343400"/>
            <a:ext cx="237744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PingFang SC"/>
                <a:ea typeface="PingFang SC"/>
              </a:rPr>
              <a:t>贴顶边 (1,y)：主端点 (R,y)、(R,y+b)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66760" y="2743200"/>
            <a:ext cx="1371600" cy="960120"/>
          </a:xfrm>
          <a:prstGeom prst="rect">
            <a:avLst/>
          </a:prstGeom>
          <a:noFill/>
          <a:ln w="2286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89036" y="2665476"/>
            <a:ext cx="155448" cy="155448"/>
          </a:xfrm>
          <a:prstGeom prst="ellipse">
            <a:avLst/>
          </a:prstGeom>
          <a:solidFill>
            <a:srgbClr val="7F7F7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99832" y="2468880"/>
            <a:ext cx="13716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00" b="1" i="0">
                <a:solidFill>
                  <a:srgbClr val="7F7F7F"/>
                </a:solidFill>
                <a:latin typeface="PingFang SC"/>
                <a:ea typeface="PingFang SC"/>
              </a:rPr>
              <a:t>(x,1)</a:t>
            </a:r>
          </a:p>
        </p:txBody>
      </p:sp>
      <p:sp>
        <p:nvSpPr>
          <p:cNvPr id="30" name="Oval 29"/>
          <p:cNvSpPr/>
          <p:nvPr/>
        </p:nvSpPr>
        <p:spPr>
          <a:xfrm>
            <a:off x="9660636" y="2665476"/>
            <a:ext cx="155448" cy="155448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48088" y="2468880"/>
            <a:ext cx="13716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PingFang SC"/>
                <a:ea typeface="PingFang SC"/>
              </a:rPr>
              <a:t>(x,C)</a:t>
            </a:r>
          </a:p>
        </p:txBody>
      </p:sp>
      <p:sp>
        <p:nvSpPr>
          <p:cNvPr id="32" name="Oval 31"/>
          <p:cNvSpPr/>
          <p:nvPr/>
        </p:nvSpPr>
        <p:spPr>
          <a:xfrm>
            <a:off x="8289036" y="3625596"/>
            <a:ext cx="155448" cy="155448"/>
          </a:xfrm>
          <a:prstGeom prst="ellipse">
            <a:avLst/>
          </a:prstGeom>
          <a:solidFill>
            <a:srgbClr val="7F7F7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99832" y="3959352"/>
            <a:ext cx="13716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00" b="1" i="0">
                <a:solidFill>
                  <a:srgbClr val="7F7F7F"/>
                </a:solidFill>
                <a:latin typeface="PingFang SC"/>
                <a:ea typeface="PingFang SC"/>
              </a:rPr>
              <a:t>(x+a,1)</a:t>
            </a:r>
          </a:p>
        </p:txBody>
      </p:sp>
      <p:sp>
        <p:nvSpPr>
          <p:cNvPr id="34" name="Oval 33"/>
          <p:cNvSpPr/>
          <p:nvPr/>
        </p:nvSpPr>
        <p:spPr>
          <a:xfrm>
            <a:off x="9660636" y="3625596"/>
            <a:ext cx="155448" cy="155448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48088" y="3959352"/>
            <a:ext cx="13716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PingFang SC"/>
                <a:ea typeface="PingFang SC"/>
              </a:rPr>
              <a:t>(x+a,C)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738360" y="2743200"/>
            <a:ext cx="0" cy="960120"/>
          </a:xfrm>
          <a:prstGeom prst="line">
            <a:avLst/>
          </a:prstGeom>
          <a:ln w="3175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863840" y="4343400"/>
            <a:ext cx="237744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PingFang SC"/>
                <a:ea typeface="PingFang SC"/>
              </a:rPr>
              <a:t>贴左边 (x,1)：主端点 (x,C)、(x+a,C)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69880" y="2834640"/>
            <a:ext cx="15544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300" b="0" i="0">
                <a:solidFill>
                  <a:srgbClr val="2E75B6"/>
                </a:solidFill>
                <a:latin typeface="PingFang SC"/>
                <a:ea typeface="PingFang SC"/>
              </a:rPr>
              <a:t>🔵 主端点（连边）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69880" y="3200400"/>
            <a:ext cx="15544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300" b="0" i="0">
                <a:solidFill>
                  <a:srgbClr val="7F7F7F"/>
                </a:solidFill>
                <a:latin typeface="PingFang SC"/>
                <a:ea typeface="PingFang SC"/>
              </a:rPr>
              <a:t>⚪ 垃圾角（不管）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120640"/>
            <a:ext cx="11155680" cy="8229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700" b="1" i="0">
                <a:solidFill>
                  <a:srgbClr val="C55A11"/>
                </a:solidFill>
                <a:latin typeface="PingFang SC"/>
                <a:ea typeface="PingFang SC"/>
              </a:rPr>
              <a:t>每个二元组最多连 n+m−1 条边 → 总边数 ≤ k(n+m)，恰好等于答案条数的上界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760720"/>
            <a:ext cx="1115568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0" i="0">
                <a:solidFill>
                  <a:srgbClr val="7F7F7F"/>
                </a:solidFill>
                <a:latin typeface="PingFang SC"/>
                <a:ea typeface="PingFang SC"/>
              </a:rPr>
              <a:t>为什么全部连边是灵魂？—— 证明"根归零"时要保证：任何操作的主端点都在同一个连通块里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6473952"/>
            <a:ext cx="1600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PingFang SC"/>
                <a:ea typeface="PingFang SC"/>
              </a:rPr>
              <a:t>F. Flipping Frenzy · 4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73152"/>
          <a:lstStyle/>
          <a:p>
            <a:pPr algn="ctr"/>
            <a:r>
              <a:rPr sz="2800" b="1" i="0">
                <a:solidFill>
                  <a:srgbClr val="FFFFFF"/>
                </a:solidFill>
                <a:latin typeface="PingFang SC"/>
                <a:ea typeface="PingFang SC"/>
              </a:rPr>
              <a:t>第三步：树上配对 DP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304288" y="1572768"/>
            <a:ext cx="694944" cy="694944"/>
          </a:xfrm>
          <a:prstGeom prst="ellipse">
            <a:avLst/>
          </a:prstGeom>
          <a:solidFill>
            <a:srgbClr val="DCE9F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i="0">
                <a:solidFill>
                  <a:srgbClr val="1F3864"/>
                </a:solidFill>
                <a:latin typeface="PingFang SC"/>
                <a:ea typeface="PingFang SC"/>
              </a:rPr>
              <a:t>(1,1)</a:t>
            </a:r>
          </a:p>
        </p:txBody>
      </p:sp>
      <p:sp>
        <p:nvSpPr>
          <p:cNvPr id="5" name="Oval 4"/>
          <p:cNvSpPr/>
          <p:nvPr/>
        </p:nvSpPr>
        <p:spPr>
          <a:xfrm>
            <a:off x="1207007" y="3035808"/>
            <a:ext cx="694944" cy="694944"/>
          </a:xfrm>
          <a:prstGeom prst="ellipse">
            <a:avLst/>
          </a:prstGeom>
          <a:solidFill>
            <a:srgbClr val="DCE9F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i="0">
                <a:solidFill>
                  <a:srgbClr val="1F3864"/>
                </a:solidFill>
                <a:latin typeface="PingFang SC"/>
                <a:ea typeface="PingFang SC"/>
              </a:rPr>
              <a:t>v₁</a:t>
            </a:r>
          </a:p>
        </p:txBody>
      </p:sp>
      <p:sp>
        <p:nvSpPr>
          <p:cNvPr id="6" name="Oval 5"/>
          <p:cNvSpPr/>
          <p:nvPr/>
        </p:nvSpPr>
        <p:spPr>
          <a:xfrm>
            <a:off x="3401568" y="3035808"/>
            <a:ext cx="694944" cy="694944"/>
          </a:xfrm>
          <a:prstGeom prst="ellipse">
            <a:avLst/>
          </a:prstGeom>
          <a:solidFill>
            <a:srgbClr val="DCE9F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i="0">
                <a:solidFill>
                  <a:srgbClr val="1F3864"/>
                </a:solidFill>
                <a:latin typeface="PingFang SC"/>
                <a:ea typeface="PingFang SC"/>
              </a:rPr>
              <a:t>v₂</a:t>
            </a:r>
          </a:p>
        </p:txBody>
      </p:sp>
      <p:sp>
        <p:nvSpPr>
          <p:cNvPr id="7" name="Oval 6"/>
          <p:cNvSpPr/>
          <p:nvPr/>
        </p:nvSpPr>
        <p:spPr>
          <a:xfrm>
            <a:off x="1207007" y="4315968"/>
            <a:ext cx="694944" cy="694944"/>
          </a:xfrm>
          <a:prstGeom prst="ellipse">
            <a:avLst/>
          </a:prstGeom>
          <a:solidFill>
            <a:srgbClr val="DCE9F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i="0">
                <a:solidFill>
                  <a:srgbClr val="1F3864"/>
                </a:solidFill>
                <a:latin typeface="PingFang SC"/>
                <a:ea typeface="PingFang SC"/>
              </a:rPr>
              <a:t>w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554480" y="1920240"/>
            <a:ext cx="1097280" cy="1463040"/>
          </a:xfrm>
          <a:prstGeom prst="line">
            <a:avLst/>
          </a:prstGeom>
          <a:ln w="3175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651760" y="1920240"/>
            <a:ext cx="1097279" cy="1463040"/>
          </a:xfrm>
          <a:prstGeom prst="line">
            <a:avLst/>
          </a:prstGeom>
          <a:ln w="1905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54480" y="3383280"/>
            <a:ext cx="0" cy="1280160"/>
          </a:xfrm>
          <a:prstGeom prst="line">
            <a:avLst/>
          </a:prstGeom>
          <a:ln w="1905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60120" y="2331720"/>
            <a:ext cx="13716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  <a:latin typeface="PingFang SC"/>
                <a:ea typeface="PingFang SC"/>
              </a:rPr>
              <a:t>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846320"/>
            <a:ext cx="219456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00" b="0" i="0">
                <a:solidFill>
                  <a:srgbClr val="7F7F7F"/>
                </a:solidFill>
                <a:latin typeface="PingFang SC"/>
                <a:ea typeface="PingFang SC"/>
              </a:rPr>
              <a:t>DFS 先走完子树，再决定边 (u,v)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325880"/>
            <a:ext cx="6675120" cy="4937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1200"/>
              </a:spcAft>
            </a:pP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DFS 求生成森林，每棵树</a:t>
            </a: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自底向上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处理</a:t>
            </a:r>
          </a:p>
          <a:p>
            <a:pPr>
              <a:spcAft>
                <a:spcPts val="1200"/>
              </a:spcAft>
            </a:pP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处理完孩子 v 后，若 </a:t>
            </a: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D[v] = 1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：使用边 (u,v) 上的操作</a:t>
            </a: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效果：</a:t>
            </a: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v 归零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、u 取反 —— 把 1 传给父亲继续处理</a:t>
            </a: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经典套路：</a:t>
            </a:r>
            <a:r>
              <a:rPr sz="2100" b="1" i="0">
                <a:solidFill>
                  <a:srgbClr val="262626"/>
                </a:solidFill>
                <a:latin typeface="PingFang SC"/>
                <a:ea typeface="PingFang SC"/>
              </a:rPr>
              <a:t>树上奇数点配对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 —— 1 们在树上两两配对、沿途抵消</a:t>
            </a: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处理完整棵树：</a:t>
            </a: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除根外全部归零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73952"/>
            <a:ext cx="1600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PingFang SC"/>
                <a:ea typeface="PingFang SC"/>
              </a:rPr>
              <a:t>F. Flipping Frenzy · 5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73152"/>
          <a:lstStyle/>
          <a:p>
            <a:pPr algn="ctr"/>
            <a:r>
              <a:rPr sz="2800" b="1" i="0">
                <a:solidFill>
                  <a:srgbClr val="FFFFFF"/>
                </a:solidFill>
                <a:latin typeface="PingFang SC"/>
                <a:ea typeface="PingFang SC"/>
              </a:rPr>
              <a:t>正确性 · 事实 1：非根树点归零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2743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孩子 v 被翻转的次数 = 它的孩子边翻转次数 + 父边（若使用）</a:t>
            </a: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D[v]=1 时才使用父边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 ⇒ v 的终值恒为 0（构造直接保证）</a:t>
            </a: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垃圾角都在第 1 行/第 1 列，内部树点不受垃圾翻转影响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114800"/>
            <a:ext cx="9418320" cy="1188720"/>
          </a:xfrm>
          <a:prstGeom prst="round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/>
            <a:r>
              <a:rPr sz="2400" b="1" i="0">
                <a:solidFill>
                  <a:srgbClr val="1F3864"/>
                </a:solidFill>
                <a:latin typeface="PingFang SC"/>
                <a:ea typeface="PingFang SC"/>
              </a:rPr>
              <a:t>D[v] 终值 = D₀[v] ⊕ (孩子边翻转次数) ⊕ (父边是否使用) =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73952"/>
            <a:ext cx="1600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PingFang SC"/>
                <a:ea typeface="PingFang SC"/>
              </a:rPr>
              <a:t>F. Flipping Frenzy · 6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73152"/>
          <a:lstStyle/>
          <a:p>
            <a:pPr algn="ctr"/>
            <a:r>
              <a:rPr sz="2800" b="1" i="0">
                <a:solidFill>
                  <a:srgbClr val="FFFFFF"/>
                </a:solidFill>
                <a:latin typeface="PingFang SC"/>
                <a:ea typeface="PingFang SC"/>
              </a:rPr>
              <a:t>正确性 · 事实 2：根也归零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20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000" b="0" i="0">
                <a:solidFill>
                  <a:srgbClr val="262626"/>
                </a:solidFill>
                <a:latin typeface="PingFang SC"/>
                <a:ea typeface="PingFang SC"/>
              </a:rPr>
              <a:t>引理：每个连通块内 </a:t>
            </a:r>
            <a:r>
              <a:rPr sz="2000" b="1" i="0">
                <a:solidFill>
                  <a:srgbClr val="2E75B6"/>
                </a:solidFill>
                <a:latin typeface="PingFang SC"/>
                <a:ea typeface="PingFang SC"/>
              </a:rPr>
              <a:t>D₀ 的 1 的个数为偶数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7F7F7F"/>
                </a:solidFill>
                <a:latin typeface="PingFang SC"/>
                <a:ea typeface="PingFang SC"/>
              </a:rPr>
              <a:t>– </a:t>
            </a:r>
            <a:r>
              <a:rPr sz="2000" b="0" i="0">
                <a:solidFill>
                  <a:srgbClr val="262626"/>
                </a:solidFill>
                <a:latin typeface="PingFang SC"/>
                <a:ea typeface="PingFang SC"/>
              </a:rPr>
              <a:t>① 有解 ⇒ D₀ = 若干操作的异或和</a:t>
            </a:r>
          </a:p>
          <a:p>
            <a:pPr>
              <a:spcAft>
                <a:spcPts val="1400"/>
              </a:spcAft>
            </a:pPr>
            <a:r>
              <a:rPr sz="2000" b="1" i="0">
                <a:solidFill>
                  <a:srgbClr val="7F7F7F"/>
                </a:solidFill>
                <a:latin typeface="PingFang SC"/>
                <a:ea typeface="PingFang SC"/>
              </a:rPr>
              <a:t>– </a:t>
            </a:r>
            <a:r>
              <a:rPr sz="2000" b="0" i="0">
                <a:solidFill>
                  <a:srgbClr val="262626"/>
                </a:solidFill>
                <a:latin typeface="PingFang SC"/>
                <a:ea typeface="PingFang SC"/>
              </a:rPr>
              <a:t>② 每个操作的两个主端点在</a:t>
            </a:r>
            <a:r>
              <a:rPr sz="2000" b="1" i="0">
                <a:solidFill>
                  <a:srgbClr val="2E75B6"/>
                </a:solidFill>
                <a:latin typeface="PingFang SC"/>
                <a:ea typeface="PingFang SC"/>
              </a:rPr>
              <a:t>同一个连通块</a:t>
            </a:r>
            <a:r>
              <a:rPr sz="2000" b="0" i="0">
                <a:solidFill>
                  <a:srgbClr val="262626"/>
                </a:solidFill>
                <a:latin typeface="PingFang SC"/>
                <a:ea typeface="PingFang SC"/>
              </a:rPr>
              <a:t> —— 建图时枚举了所有合法位置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7F7F7F"/>
                </a:solidFill>
                <a:latin typeface="PingFang SC"/>
                <a:ea typeface="PingFang SC"/>
              </a:rPr>
              <a:t>– </a:t>
            </a:r>
            <a:r>
              <a:rPr sz="2000" b="0" i="0">
                <a:solidFill>
                  <a:srgbClr val="262626"/>
                </a:solidFill>
                <a:latin typeface="PingFang SC"/>
                <a:ea typeface="PingFang SC"/>
              </a:rPr>
              <a:t>③ 垃圾角是边界孤立点 ⇒ 每个操作对每块贡献 0 或 2 个 1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000" b="0" i="0">
                <a:solidFill>
                  <a:srgbClr val="262626"/>
                </a:solidFill>
                <a:latin typeface="PingFang SC"/>
                <a:ea typeface="PingFang SC"/>
              </a:rPr>
              <a:t>每使用一条边，恰好翻转块内 </a:t>
            </a:r>
            <a:r>
              <a:rPr sz="2000" b="1" i="0">
                <a:solidFill>
                  <a:srgbClr val="2E75B6"/>
                </a:solidFill>
                <a:latin typeface="PingFang SC"/>
                <a:ea typeface="PingFang SC"/>
              </a:rPr>
              <a:t>2 个点</a:t>
            </a:r>
            <a:r>
              <a:rPr sz="2000" b="0" i="0">
                <a:solidFill>
                  <a:srgbClr val="262626"/>
                </a:solidFill>
                <a:latin typeface="PingFang SC"/>
                <a:ea typeface="PingFang SC"/>
              </a:rPr>
              <a:t> ⇒ 树内翻转总数恒为偶</a:t>
            </a:r>
          </a:p>
          <a:p>
            <a:pPr>
              <a:spcAft>
                <a:spcPts val="1400"/>
              </a:spcAft>
            </a:pPr>
            <a:r>
              <a:rPr sz="20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000" b="0" i="0">
                <a:solidFill>
                  <a:srgbClr val="262626"/>
                </a:solidFill>
                <a:latin typeface="PingFang SC"/>
                <a:ea typeface="PingFang SC"/>
              </a:rPr>
              <a:t>非根清零后：</a:t>
            </a:r>
            <a:r>
              <a:rPr sz="2000" b="1" i="0">
                <a:solidFill>
                  <a:srgbClr val="2E75B6"/>
                </a:solidFill>
                <a:latin typeface="PingFang SC"/>
                <a:ea typeface="PingFang SC"/>
              </a:rPr>
              <a:t>根的值 = 块内 D₀ 总和 = 0</a:t>
            </a:r>
            <a:r>
              <a:rPr sz="2000" b="0" i="0">
                <a:solidFill>
                  <a:srgbClr val="262626"/>
                </a:solidFill>
                <a:latin typeface="PingFang SC"/>
                <a:ea typeface="PingFang SC"/>
              </a:rPr>
              <a:t> ✓</a:t>
            </a:r>
          </a:p>
          <a:p>
            <a:pPr>
              <a:spcAft>
                <a:spcPts val="1400"/>
              </a:spcAft>
            </a:pPr>
            <a:r>
              <a:rPr sz="20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000" b="1" i="0">
                <a:solidFill>
                  <a:srgbClr val="C55A11"/>
                </a:solidFill>
                <a:latin typeface="PingFang SC"/>
                <a:ea typeface="PingFang SC"/>
              </a:rPr>
              <a:t>(1,1) 是 DFS 的第一个点 ⇒ 它所在树的根就是 (1,1)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473952"/>
            <a:ext cx="1600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PingFang SC"/>
                <a:ea typeface="PingFang SC"/>
              </a:rPr>
              <a:t>F. Flipping Frenzy · 7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73152"/>
          <a:lstStyle/>
          <a:p>
            <a:pPr algn="ctr"/>
            <a:r>
              <a:rPr sz="2800" b="1" i="0">
                <a:solidFill>
                  <a:srgbClr val="FFFFFF"/>
                </a:solidFill>
                <a:latin typeface="PingFang SC"/>
                <a:ea typeface="PingFang SC"/>
              </a:rPr>
              <a:t>正确性 · 事实 3：垃圾角自动归零（亮点）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31089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1200"/>
              </a:spcAft>
            </a:pP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内部孤立点：没有操作碰得到 ⇒ 有解 ⇒ </a:t>
            </a: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D₀ = 0</a:t>
            </a:r>
          </a:p>
          <a:p>
            <a:pPr>
              <a:spcAft>
                <a:spcPts val="1200"/>
              </a:spcAft>
            </a:pP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于是只剩第 1 行 / 第 1 列可能非零</a:t>
            </a:r>
          </a:p>
          <a:p>
            <a:pPr>
              <a:spcAft>
                <a:spcPts val="1200"/>
              </a:spcAft>
            </a:pP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行/列奇偶性守恒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：每次操作在任意一行恰好翻转 2 个角</a:t>
            </a:r>
          </a:p>
          <a:p>
            <a:pPr>
              <a:spcAft>
                <a:spcPts val="1200"/>
              </a:spcAft>
            </a:pP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D₀ 每行异或和为 0（性质 3）＋ 行内其他点全 0 ⇒ </a:t>
            </a: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第 1 列必为 0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；列同理 ⇒ 第 1 行全 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120640"/>
            <a:ext cx="10515600" cy="960120"/>
          </a:xfrm>
          <a:prstGeom prst="round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/>
            <a:r>
              <a:rPr sz="2200" b="1" i="0">
                <a:solidFill>
                  <a:srgbClr val="C55A11"/>
                </a:solidFill>
                <a:latin typeface="PingFang SC"/>
                <a:ea typeface="PingFang SC"/>
              </a:rPr>
              <a:t>代码里完全没处理垃圾角，却能 AC —— 守恒律兜底，不是运气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73952"/>
            <a:ext cx="1600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PingFang SC"/>
                <a:ea typeface="PingFang SC"/>
              </a:rPr>
              <a:t>F. Flipping Frenzy · 8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73152"/>
          <a:lstStyle/>
          <a:p>
            <a:pPr algn="ctr"/>
            <a:r>
              <a:rPr sz="2800" b="1" i="0">
                <a:solidFill>
                  <a:srgbClr val="FFFFFF"/>
                </a:solidFill>
                <a:latin typeface="PingFang SC"/>
                <a:ea typeface="PingFang SC"/>
              </a:rPr>
              <a:t>小例子：3×3 网格 + 二元组 (2,2)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8288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PingFang SC"/>
                <a:ea typeface="PingFang SC"/>
              </a:rPr>
              <a:t>网格 A（3×3）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508760" cy="1508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/>
                <a:gridCol w="502920"/>
                <a:gridCol w="50292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C55A11"/>
                          </a:solidFill>
                          <a:latin typeface="PingFang SC"/>
                          <a:ea typeface="PingFang SC"/>
                        </a:rPr>
                        <a:t>1</a:t>
                      </a:r>
                    </a:p>
                  </a:txBody>
                  <a:tcPr anchor="ctr" marL="0" marR="0" marT="0" marB="0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C55A11"/>
                          </a:solidFill>
                          <a:latin typeface="PingFang SC"/>
                          <a:ea typeface="PingFang SC"/>
                        </a:rPr>
                        <a:t>1</a:t>
                      </a:r>
                    </a:p>
                  </a:txBody>
                  <a:tcPr anchor="ctr" marL="0" marR="0" marT="0" marB="0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PingFang SC"/>
                          <a:ea typeface="PingFang SC"/>
                        </a:rPr>
                        <a:t>0</a:t>
                      </a:r>
                    </a:p>
                  </a:txBody>
                  <a:tcPr anchor="ctr" marL="0" marR="0" marT="0" marB="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C55A11"/>
                          </a:solidFill>
                          <a:latin typeface="PingFang SC"/>
                          <a:ea typeface="PingFang SC"/>
                        </a:rPr>
                        <a:t>1</a:t>
                      </a:r>
                    </a:p>
                  </a:txBody>
                  <a:tcPr anchor="ctr" marL="0" marR="0" marT="0" marB="0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C55A11"/>
                          </a:solidFill>
                          <a:latin typeface="PingFang SC"/>
                          <a:ea typeface="PingFang SC"/>
                        </a:rPr>
                        <a:t>1</a:t>
                      </a:r>
                    </a:p>
                  </a:txBody>
                  <a:tcPr anchor="ctr" marL="0" marR="0" marT="0" marB="0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PingFang SC"/>
                          <a:ea typeface="PingFang SC"/>
                        </a:rPr>
                        <a:t>0</a:t>
                      </a:r>
                    </a:p>
                  </a:txBody>
                  <a:tcPr anchor="ctr" marL="0" marR="0" marT="0" marB="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PingFang SC"/>
                          <a:ea typeface="PingFang SC"/>
                        </a:rPr>
                        <a:t>0</a:t>
                      </a:r>
                    </a:p>
                  </a:txBody>
                  <a:tcPr anchor="ctr"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PingFang SC"/>
                          <a:ea typeface="PingFang SC"/>
                        </a:rPr>
                        <a:t>0</a:t>
                      </a:r>
                    </a:p>
                  </a:txBody>
                  <a:tcPr anchor="ctr"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PingFang SC"/>
                          <a:ea typeface="PingFang SC"/>
                        </a:rPr>
                        <a:t>0</a:t>
                      </a:r>
                    </a:p>
                  </a:txBody>
                  <a:tcPr anchor="ctr" marL="0" marR="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514600" y="2423160"/>
            <a:ext cx="64008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400" b="0" i="0">
                <a:solidFill>
                  <a:srgbClr val="7F7F7F"/>
                </a:solidFill>
                <a:latin typeface="PingFang SC"/>
                <a:ea typeface="PingFang SC"/>
              </a:rPr>
              <a:t>差分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371600"/>
            <a:ext cx="237744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PingFang SC"/>
                <a:ea typeface="PingFang SC"/>
              </a:rPr>
              <a:t>D（4×4）· 1 在 4 个角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337560" y="1828800"/>
          <a:ext cx="18288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457200"/>
                <a:gridCol w="457200"/>
                <a:gridCol w="4572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C55A11"/>
                          </a:solidFill>
                          <a:latin typeface="PingFang SC"/>
                          <a:ea typeface="PingFang SC"/>
                        </a:rPr>
                        <a:t>0</a:t>
                      </a:r>
                    </a:p>
                  </a:txBody>
                  <a:tcPr anchor="ctr" marL="0" marR="0" marT="0" marB="0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PingFang SC"/>
                          <a:ea typeface="PingFang SC"/>
                        </a:rPr>
                        <a:t>0</a:t>
                      </a:r>
                    </a:p>
                  </a:txBody>
                  <a:tcPr anchor="ctr"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C55A11"/>
                          </a:solidFill>
                          <a:latin typeface="PingFang SC"/>
                          <a:ea typeface="PingFang SC"/>
                        </a:rPr>
                        <a:t>0</a:t>
                      </a:r>
                    </a:p>
                  </a:txBody>
                  <a:tcPr anchor="ctr" marL="0" marR="0" marT="0" marB="0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PingFang SC"/>
                          <a:ea typeface="PingFang SC"/>
                        </a:rPr>
                        <a:t>0</a:t>
                      </a:r>
                    </a:p>
                  </a:txBody>
                  <a:tcPr anchor="ctr" marL="0" marR="0" marT="0" marB="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PingFang SC"/>
                          <a:ea typeface="PingFang SC"/>
                        </a:rPr>
                        <a:t>0</a:t>
                      </a:r>
                    </a:p>
                  </a:txBody>
                  <a:tcPr anchor="ctr"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PingFang SC"/>
                          <a:ea typeface="PingFang SC"/>
                        </a:rPr>
                        <a:t>0</a:t>
                      </a:r>
                    </a:p>
                  </a:txBody>
                  <a:tcPr anchor="ctr"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PingFang SC"/>
                          <a:ea typeface="PingFang SC"/>
                        </a:rPr>
                        <a:t>0</a:t>
                      </a:r>
                    </a:p>
                  </a:txBody>
                  <a:tcPr anchor="ctr"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PingFang SC"/>
                          <a:ea typeface="PingFang SC"/>
                        </a:rPr>
                        <a:t>0</a:t>
                      </a:r>
                    </a:p>
                  </a:txBody>
                  <a:tcPr anchor="ctr" marL="0" marR="0" marT="0" marB="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C55A11"/>
                          </a:solidFill>
                          <a:latin typeface="PingFang SC"/>
                          <a:ea typeface="PingFang SC"/>
                        </a:rPr>
                        <a:t>0</a:t>
                      </a:r>
                    </a:p>
                  </a:txBody>
                  <a:tcPr anchor="ctr" marL="0" marR="0" marT="0" marB="0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PingFang SC"/>
                          <a:ea typeface="PingFang SC"/>
                        </a:rPr>
                        <a:t>0</a:t>
                      </a:r>
                    </a:p>
                  </a:txBody>
                  <a:tcPr anchor="ctr"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C55A11"/>
                          </a:solidFill>
                          <a:latin typeface="PingFang SC"/>
                          <a:ea typeface="PingFang SC"/>
                        </a:rPr>
                        <a:t>0</a:t>
                      </a:r>
                    </a:p>
                  </a:txBody>
                  <a:tcPr anchor="ctr" marL="0" marR="0" marT="0" marB="0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PingFang SC"/>
                          <a:ea typeface="PingFang SC"/>
                        </a:rPr>
                        <a:t>0</a:t>
                      </a:r>
                    </a:p>
                  </a:txBody>
                  <a:tcPr anchor="ctr" marL="0" marR="0" marT="0" marB="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PingFang SC"/>
                          <a:ea typeface="PingFang SC"/>
                        </a:rPr>
                        <a:t>0</a:t>
                      </a:r>
                    </a:p>
                  </a:txBody>
                  <a:tcPr anchor="ctr"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PingFang SC"/>
                          <a:ea typeface="PingFang SC"/>
                        </a:rPr>
                        <a:t>0</a:t>
                      </a:r>
                    </a:p>
                  </a:txBody>
                  <a:tcPr anchor="ctr"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PingFang SC"/>
                          <a:ea typeface="PingFang SC"/>
                        </a:rPr>
                        <a:t>0</a:t>
                      </a:r>
                    </a:p>
                  </a:txBody>
                  <a:tcPr anchor="ctr"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PingFang SC"/>
                          <a:ea typeface="PingFang SC"/>
                        </a:rPr>
                        <a:t>0</a:t>
                      </a:r>
                    </a:p>
                  </a:txBody>
                  <a:tcPr anchor="ctr" marL="0" marR="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337560" y="3931920"/>
            <a:ext cx="27432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300" b="0" i="0">
                <a:solidFill>
                  <a:srgbClr val="C55A11"/>
                </a:solidFill>
                <a:latin typeface="PingFang SC"/>
                <a:ea typeface="PingFang SC"/>
              </a:rPr>
              <a:t>1 的位置：(1,1) (1,3) (3,1) (3,3)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737360"/>
            <a:ext cx="5577840" cy="44805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1800" b="0" i="0">
                <a:solidFill>
                  <a:srgbClr val="262626"/>
                </a:solidFill>
                <a:latin typeface="PingFang SC"/>
                <a:ea typeface="PingFang SC"/>
              </a:rPr>
              <a:t>图：边 </a:t>
            </a:r>
            <a:r>
              <a:rPr sz="1800" b="1" i="0">
                <a:solidFill>
                  <a:srgbClr val="2E75B6"/>
                </a:solidFill>
                <a:latin typeface="PingFang SC"/>
                <a:ea typeface="PingFang SC"/>
              </a:rPr>
              <a:t>(1,1)—(3,3)</a:t>
            </a:r>
            <a:r>
              <a:rPr sz="1800" b="0" i="0">
                <a:solidFill>
                  <a:srgbClr val="262626"/>
                </a:solidFill>
                <a:latin typeface="PingFang SC"/>
                <a:ea typeface="PingFang SC"/>
              </a:rPr>
              <a:t>〔op {1,1,1}〕、(3,2)—(3,4)、(2,3)—(4,3)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1800" b="0" i="0">
                <a:solidFill>
                  <a:srgbClr val="262626"/>
                </a:solidFill>
                <a:latin typeface="PingFang SC"/>
                <a:ea typeface="PingFang SC"/>
              </a:rPr>
              <a:t>DFS：D[3][3] = 1 ⇒ 使用 op </a:t>
            </a:r>
            <a:r>
              <a:rPr sz="1800" b="1" i="0">
                <a:solidFill>
                  <a:srgbClr val="2E75B6"/>
                </a:solidFill>
                <a:latin typeface="PingFang SC"/>
                <a:ea typeface="PingFang SC"/>
              </a:rPr>
              <a:t>{1,1,1}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1800" b="0" i="0">
                <a:solidFill>
                  <a:srgbClr val="262626"/>
                </a:solidFill>
                <a:latin typeface="PingFang SC"/>
                <a:ea typeface="PingFang SC"/>
              </a:rPr>
              <a:t>翻转主端点 (1,1)、(3,3) ＋ 垃圾角 (1,3)、(3,1) → 全部归零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1800" b="0" i="0">
                <a:solidFill>
                  <a:srgbClr val="262626"/>
                </a:solidFill>
                <a:latin typeface="PingFang SC"/>
                <a:ea typeface="PingFang SC"/>
              </a:rPr>
              <a:t>输出：</a:t>
            </a:r>
            <a:r>
              <a:rPr sz="1800" b="1" i="0">
                <a:solidFill>
                  <a:srgbClr val="2E75B6"/>
                </a:solidFill>
                <a:latin typeface="PingFang SC"/>
                <a:ea typeface="PingFang SC"/>
              </a:rPr>
              <a:t>1 / 1 1 1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1800" b="1" i="0">
                <a:solidFill>
                  <a:srgbClr val="C55A11"/>
                </a:solidFill>
                <a:latin typeface="PingFang SC"/>
                <a:ea typeface="PingFang SC"/>
              </a:rPr>
              <a:t>垃圾角初始恰好都是 1，被顺带解决 —— 事实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73952"/>
            <a:ext cx="1600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PingFang SC"/>
                <a:ea typeface="PingFang SC"/>
              </a:rPr>
              <a:t>F. Flipping Frenzy · 9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73152"/>
          <a:lstStyle/>
          <a:p>
            <a:pPr algn="ctr"/>
            <a:r>
              <a:rPr sz="2800" b="1" i="0">
                <a:solidFill>
                  <a:srgbClr val="FFFFFF"/>
                </a:solidFill>
                <a:latin typeface="PingFang SC"/>
                <a:ea typeface="PingFang SC"/>
              </a:rPr>
              <a:t>复杂度与实现细节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1200"/>
              </a:spcAft>
            </a:pP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点数 (n+1)(m+1)，边数 ≤ k(n+m)；单测例 </a:t>
            </a: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O(nm + k(n+m))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，约 10⁶ 量级</a:t>
            </a: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差分</a:t>
            </a: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原地做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：从 (n+1,m+1) 倒序枚举，右侧取到的还是原始值</a:t>
            </a: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建边：三重循环 —— a=1 时 b 取遍 [1, m+1−y]；a≥2 只取 b=1</a:t>
            </a: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DFS：vis 判重；多测清空 —— vis 整块 memset，邻接表只清到 n+1、m+1</a:t>
            </a: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/>
                <a:ea typeface="PingFang SC"/>
              </a:rPr>
              <a:t>细节行号对照见同目录「题解.md」第七节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473952"/>
            <a:ext cx="1600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PingFang SC"/>
                <a:ea typeface="PingFang SC"/>
              </a:rPr>
              <a:t>F. Flipping Frenzy · 10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73152"/>
          <a:lstStyle/>
          <a:p>
            <a:pPr algn="ctr"/>
            <a:r>
              <a:rPr sz="2800" b="1" i="0">
                <a:solidFill>
                  <a:srgbClr val="FFFFFF"/>
                </a:solidFill>
                <a:latin typeface="PingFang SC"/>
                <a:ea typeface="PingFang SC"/>
              </a:rPr>
              <a:t>总结：一条套路线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463040"/>
            <a:ext cx="2331720" cy="1234440"/>
          </a:xfrm>
          <a:prstGeom prst="roundRect">
            <a:avLst/>
          </a:prstGeom>
          <a:solidFill>
            <a:srgbClr val="DCE9F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700" b="1" i="0">
                <a:solidFill>
                  <a:srgbClr val="1F3864"/>
                </a:solidFill>
                <a:latin typeface="PingFang SC"/>
                <a:ea typeface="PingFang SC"/>
              </a:rPr>
              <a:t>① 异或差分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2E75B6"/>
                </a:solidFill>
                <a:latin typeface="PingFang SC"/>
                <a:ea typeface="PingFang SC"/>
              </a:rPr>
              <a:t>翻矩形 → 翻 4 角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54680" y="1938528"/>
            <a:ext cx="502920" cy="292608"/>
          </a:xfrm>
          <a:prstGeom prst="right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49039" y="1463040"/>
            <a:ext cx="2331720" cy="1234440"/>
          </a:xfrm>
          <a:prstGeom prst="roundRect">
            <a:avLst/>
          </a:prstGeom>
          <a:solidFill>
            <a:srgbClr val="DCE9F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700" b="1" i="0">
                <a:solidFill>
                  <a:srgbClr val="1F3864"/>
                </a:solidFill>
                <a:latin typeface="PingFang SC"/>
                <a:ea typeface="PingFang SC"/>
              </a:rPr>
              <a:t>② 图建模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2E75B6"/>
                </a:solidFill>
                <a:latin typeface="PingFang SC"/>
                <a:ea typeface="PingFang SC"/>
              </a:rPr>
              <a:t>主端点连成边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126479" y="1938528"/>
            <a:ext cx="502920" cy="292608"/>
          </a:xfrm>
          <a:prstGeom prst="right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20840" y="1463040"/>
            <a:ext cx="2331720" cy="1234440"/>
          </a:xfrm>
          <a:prstGeom prst="roundRect">
            <a:avLst/>
          </a:prstGeom>
          <a:solidFill>
            <a:srgbClr val="DCE9F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700" b="1" i="0">
                <a:solidFill>
                  <a:srgbClr val="1F3864"/>
                </a:solidFill>
                <a:latin typeface="PingFang SC"/>
                <a:ea typeface="PingFang SC"/>
              </a:rPr>
              <a:t>③ 树上配对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2E75B6"/>
                </a:solidFill>
                <a:latin typeface="PingFang SC"/>
                <a:ea typeface="PingFang SC"/>
              </a:rPr>
              <a:t>1 两两配对</a:t>
            </a:r>
          </a:p>
        </p:txBody>
      </p:sp>
      <p:sp>
        <p:nvSpPr>
          <p:cNvPr id="9" name="Right Arrow 8"/>
          <p:cNvSpPr/>
          <p:nvPr/>
        </p:nvSpPr>
        <p:spPr>
          <a:xfrm>
            <a:off x="9098280" y="1938528"/>
            <a:ext cx="502920" cy="292608"/>
          </a:xfrm>
          <a:prstGeom prst="right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92640" y="1463040"/>
            <a:ext cx="2331720" cy="1234440"/>
          </a:xfrm>
          <a:prstGeom prst="roundRect">
            <a:avLst/>
          </a:prstGeom>
          <a:solidFill>
            <a:srgbClr val="DCE9F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700" b="1" i="0">
                <a:solidFill>
                  <a:srgbClr val="1F3864"/>
                </a:solidFill>
                <a:latin typeface="PingFang SC"/>
                <a:ea typeface="PingFang SC"/>
              </a:rPr>
              <a:t>④ 奇偶守恒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2E75B6"/>
                </a:solidFill>
                <a:latin typeface="PingFang SC"/>
                <a:ea typeface="PingFang SC"/>
              </a:rPr>
              <a:t>垃圾角自动归零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10515600" cy="2926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1200"/>
              </a:spcAft>
            </a:pPr>
            <a:r>
              <a:rPr sz="20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000" b="0" i="0">
                <a:solidFill>
                  <a:srgbClr val="262626"/>
                </a:solidFill>
                <a:latin typeface="PingFang SC"/>
                <a:ea typeface="PingFang SC"/>
              </a:rPr>
              <a:t>可迁移 1：</a:t>
            </a:r>
            <a:r>
              <a:rPr sz="2000" b="1" i="0">
                <a:solidFill>
                  <a:srgbClr val="C55A11"/>
                </a:solidFill>
                <a:latin typeface="PingFang SC"/>
                <a:ea typeface="PingFang SC"/>
              </a:rPr>
              <a:t>「保证有解」是强信息</a:t>
            </a:r>
            <a:r>
              <a:rPr sz="2000" b="0" i="0">
                <a:solidFill>
                  <a:srgbClr val="262626"/>
                </a:solidFill>
                <a:latin typeface="PingFang SC"/>
                <a:ea typeface="PingFang SC"/>
              </a:rPr>
              <a:t> —— 证明中用了两次（块内偶数个 1、孤立点为 0）</a:t>
            </a:r>
          </a:p>
          <a:p>
            <a:pPr>
              <a:spcAft>
                <a:spcPts val="1400"/>
              </a:spcAft>
            </a:pPr>
            <a:r>
              <a:rPr sz="20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000" b="0" i="0">
                <a:solidFill>
                  <a:srgbClr val="262626"/>
                </a:solidFill>
                <a:latin typeface="PingFang SC"/>
                <a:ea typeface="PingFang SC"/>
              </a:rPr>
              <a:t>可迁移 2：代码没写的部分，用</a:t>
            </a:r>
            <a:r>
              <a:rPr sz="2000" b="1" i="0">
                <a:solidFill>
                  <a:srgbClr val="2E75B6"/>
                </a:solidFill>
                <a:latin typeface="PingFang SC"/>
                <a:ea typeface="PingFang SC"/>
              </a:rPr>
              <a:t>不变量</a:t>
            </a:r>
            <a:r>
              <a:rPr sz="2000" b="0" i="0">
                <a:solidFill>
                  <a:srgbClr val="262626"/>
                </a:solidFill>
                <a:latin typeface="PingFang SC"/>
                <a:ea typeface="PingFang SC"/>
              </a:rPr>
              <a:t>证明正确 —— 这里是行列奇偶性守恒</a:t>
            </a:r>
          </a:p>
          <a:p>
            <a:pPr>
              <a:spcAft>
                <a:spcPts val="1400"/>
              </a:spcAft>
            </a:pPr>
            <a:r>
              <a:rPr sz="2000" b="1" i="0">
                <a:solidFill>
                  <a:srgbClr val="2E75B6"/>
                </a:solidFill>
                <a:latin typeface="PingFang SC"/>
                <a:ea typeface="PingFang SC"/>
              </a:rPr>
              <a:t>▪ </a:t>
            </a:r>
            <a:r>
              <a:rPr sz="2000" b="1" i="0">
                <a:solidFill>
                  <a:srgbClr val="262626"/>
                </a:solidFill>
                <a:latin typeface="PingFang SC"/>
                <a:ea typeface="PingFang SC"/>
              </a:rPr>
              <a:t>谢谢大家 · 欢迎提问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73952"/>
            <a:ext cx="1600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PingFang SC"/>
                <a:ea typeface="PingFang SC"/>
              </a:rPr>
              <a:t>F. Flipping Frenzy · 11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