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5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大家好！今天分享个人赛 O 题 Xor Triangle，也叫"异或三角形"。这道题代码只有二十行，核心是一条公式：</a:t>
            </a:r>
          </a:p>
          <a:p>
            <a:r>
              <a:t>4^N 减 3^(N+1) 加 3 乘 2^N 再减 1。听上去像背答案，其实整个推导只用到一个四行的小表和异或的两个基本性质。</a:t>
            </a:r>
          </a:p>
          <a:p>
            <a:r>
              <a:t>我会把每一步"为什么这么想"讲清楚，最后再聊两个容易翻车的细节。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先读题：给定 N，统计满足 1 ≤ a,b &lt; 2^N 的有序整数对 (a,b) 有多少个，使得 a、b、a 异或 b 这三个数能构成非退化三角形，</a:t>
            </a:r>
          </a:p>
          <a:p>
            <a:r>
              <a:t>答案对 998244353 取模。注意三点：整数对是有序的，(a,b) 和 (b,a) 算两个；N 可以到 10 的 18 次方，</a:t>
            </a:r>
          </a:p>
          <a:p>
            <a:r>
              <a:t>所以枚举 4^N 对不可能，按位 DP 也至少 O(N)，必须推闭式公式；</a:t>
            </a:r>
          </a:p>
          <a:p>
            <a:r>
              <a:t>另外条件完全由 a、b 的二进制位决定，说明这本质上是一道位运算计数题，不是几何题。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先看一个最简单的观察：任意两个数的和，一定大于等于它们的异或。为什么？逐位看四种情况，做一个四行的小表：</a:t>
            </a:r>
          </a:p>
          <a:p>
            <a:r>
              <a:t>00 时，和是 0，异或也是 0，相等；01 时，和是 1，异或也是 1，相等；10 时同理，相等；</a:t>
            </a:r>
          </a:p>
          <a:p>
            <a:r>
              <a:t>只有 11 这一行不一样——和是 2，进了一位，而异或是 0，和严格大于异或。</a:t>
            </a:r>
          </a:p>
          <a:p>
            <a:r>
              <a:t>所以 a+b 大于等于 a 异或 b，取等当且仅当没有任何一个 11 位，也就是 a&amp;b 等于 0；</a:t>
            </a:r>
          </a:p>
          <a:p>
            <a:r>
              <a:t>严格大于当且仅当至少有一位是 11，也就是 a&amp;b 不等于 0。</a:t>
            </a:r>
          </a:p>
          <a:p>
            <a:r>
              <a:t>等价地，有个恒等式 a+b 等于 a⊕b 加 2 倍的 a&amp;b。这把"和与异或谁大"的问题完全归结到 a&amp;b 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再看异或的一个基本性质：同一个数异或两次，等于没做，x 异或 y 再异或 y 等于 x。</a:t>
            </a:r>
          </a:p>
          <a:p>
            <a:r>
              <a:t>应用到本题：c 等于 a 异或 b，两边同时异或 b，得到 a 等于 b 异或 c；同时异或 a，得到 b 等于 a 异或 c。</a:t>
            </a:r>
          </a:p>
          <a:p>
            <a:r>
              <a:t>也就是说，三个数两两之间都能通过异或互相转化，(a,b)、(b,c)、(a,c) 三组地位完全对等。</a:t>
            </a:r>
          </a:p>
          <a:p>
            <a:r>
              <a:t>于是我们不需要先弄清楚三条边谁最长——直接列出三条三角形不等式 a+b&gt;c、b+c&gt;a、a+c&gt;b，</a:t>
            </a:r>
          </a:p>
          <a:p>
            <a:r>
              <a:t>每一条都用同一招判断：对应的两个数是否至少有一位 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现在把三条不等式逐条翻译。第一条 a+b 大于 c：由小表，等价于 (a,b) 至少有一位 11，也就是 a&amp;b 非零。</a:t>
            </a:r>
          </a:p>
          <a:p>
            <a:r>
              <a:t>第二条 b+c 大于 a：注意 b 异或 c 恰好等于 a，所以等价于 (b,c) 至少有一位 11，也就是 b&amp;c 非零。</a:t>
            </a:r>
          </a:p>
          <a:p>
            <a:r>
              <a:t>怎么把 b&amp;c 换成只关于 a、b 的条件？逐位看：c 的每一位是 a 和 b 异或出来的，b 和 c 同时为 1，</a:t>
            </a:r>
          </a:p>
          <a:p>
            <a:r>
              <a:t>当且仅当 b 这一位是 1 而 a 这一位是 0——所以 b&amp;c 就是"b 里有、a 里没有"的那些位。</a:t>
            </a:r>
          </a:p>
          <a:p>
            <a:r>
              <a:t>b&amp;c 非零，等价于 b 不是 a 的按位子集。第三条完全对称：a&amp;c 非零，等价于 a 不是 b 的子集。</a:t>
            </a:r>
          </a:p>
          <a:p>
            <a:r>
              <a:t>于是非退化等价于三个位条件：a&amp;b 非零，b 不包含于 a，a 不包含于 b。到这里"三角形"彻底消失，</a:t>
            </a:r>
          </a:p>
          <a:p>
            <a:r>
              <a:t>问题变成三个纯位运算条件的计数。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接下来的动作非常标准：容斥。三个坏条件对应三个坏事件：E1 是 a&amp;b 等于 0；</a:t>
            </a:r>
          </a:p>
          <a:p>
            <a:r>
              <a:t>E2 是 b&amp;c 等于 0，也就是 b 包含于 a；E3 是 a&amp;c 等于 0，也就是 a 包含于 b。</a:t>
            </a:r>
          </a:p>
          <a:p>
            <a:r>
              <a:t>全体对数有 (2^N − 1) 的平方个，答案是总数减去坏事件并集的大小。下面逐个计算每一项。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先算 E1：a&amp;b 等于 0，就是两个数没有任何一个 11 位，1 位完全不重叠。</a:t>
            </a:r>
          </a:p>
          <a:p>
            <a:r>
              <a:t>看低 N 位，每一位有三种去向：只在 a、只在 b、都不在，所以有 3^N 种分配；</a:t>
            </a:r>
          </a:p>
          <a:p>
            <a:r>
              <a:t>但要挖掉 a 等于 0 的 2^N 种和 b 等于 0 的 2^N 种——注意 a = b = 0 被挖了两次，要加回 1 种。</a:t>
            </a:r>
          </a:p>
          <a:p>
            <a:r>
              <a:t>得到 |E1| = 3^N − 2^(N+1) + 1。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再算 E2：b 包含于 a。逐位看，(bᵢ, aᵢ) 只有三种合法状态：00、01、11，也是 3^N 种；</a:t>
            </a:r>
          </a:p>
          <a:p>
            <a:r>
              <a:t>挖掉 b 等于 0 的 2^N 种。这里有个细节：b 等于 0 的 2^N 种里已经包含了 a 等于 0，不用像 E1 那样再加回。</a:t>
            </a:r>
          </a:p>
          <a:p>
            <a:r>
              <a:t>所以 |E2| = 3^N − 2^N，和 |E1| 不一样——这是这道题最容易翻车的地方：</a:t>
            </a:r>
          </a:p>
          <a:p>
            <a:r>
              <a:t>两个集合从字面上看几乎对称，但"挖 0"的时候一个有交集、一个没有，计数结果天生不同。E3 与 E2 对称，相等。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再看交集。E1 交 E2 是空集：a&amp;b 为 0 又要求 b 包含于 a，只能推出 b = 0，矛盾；</a:t>
            </a:r>
          </a:p>
          <a:p>
            <a:r>
              <a:t>E1 交 E3 和三元交同理。E2 交 E3 是 a = b，共 2^N − 1 对。</a:t>
            </a:r>
          </a:p>
          <a:p>
            <a:r>
              <a:t>把各项代进容斥公式，并集大小化简成 3^(N+1) − 5·2^N + 2。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总对数 (2^N − 1) 的平方展开是 4^N − 2^(N+1) + 1，减去并集，得到最终答案</a:t>
            </a:r>
          </a:p>
          <a:p>
            <a:r>
              <a:t>4^N − 3^(N+1) + 3·2^N − 1。用官方样例核对：N=2 答案是 0；N=5 是 390——</a:t>
            </a:r>
          </a:p>
          <a:p>
            <a:r>
              <a:t>比如 (13,24)，13 异或 24 等于 21，13+24 大于 21、13+21 大于 24、21+24 大于 13，确实构成三角形；</a:t>
            </a:r>
          </a:p>
          <a:p>
            <a:r>
              <a:t>N=10000 是 851087540。全部吻合。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代码二十行：快速幂分别算 2^N、3^(N+1)、4^N 三个幂次，然后套公式输出。</a:t>
            </a:r>
          </a:p>
          <a:p>
            <a:r>
              <a:t>三个细节：一是三次快速幂，时间 O(log N)、空间 O(1)，10 的 18 次方也没压力；</a:t>
            </a:r>
          </a:p>
          <a:p>
            <a:r>
              <a:t>二是减法先加 MOD 再取模，防止 C++ 里负数取模得到负数；</a:t>
            </a:r>
          </a:p>
          <a:p>
            <a:r>
              <a:t>三是乘法不会爆：998244353 的平方大约是 9.96 乘 10 的 17 次方，小于 long long 上限 9.2 乘 10 的 18 次方。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总结一下套路链：先用四行小表把"和与异或谁大"归结到 a&amp;b 是否为 0，</a:t>
            </a:r>
          </a:p>
          <a:p>
            <a:r>
              <a:t>再用异或自反性把三条三角形不等式统一翻译成三个位条件，最后定义三个坏事件做标准容斥，得到闭式公式、快速幂求值。</a:t>
            </a:r>
          </a:p>
          <a:p>
            <a:r>
              <a:t>三个可迁移的点：第一，比较"和"与"异或"，永远先列 00/01/10/11 小表，答案全在表里；</a:t>
            </a:r>
          </a:p>
          <a:p>
            <a:r>
              <a:t>第二，x 异或 y 异或 y 等于 x 这个自反性，让三个数两两对等，避免先去比较谁最长；</a:t>
            </a:r>
          </a:p>
          <a:p>
            <a:r>
              <a:t>第三，容斥计数时每个集合单独算，"挖 0"的细节会让表面对称的集合大小不同，取模时负数先加 MOD。</a:t>
            </a:r>
          </a:p>
          <a:p>
            <a:r>
              <a:t>最后送一个彩蛋：合法三角形一定三边互异——a 等于 b 会推出 c 等于 0，</a:t>
            </a:r>
          </a:p>
          <a:p>
            <a:r>
              <a:t>所以 N 等于 1、2 时答案是 0 并不奇怪。谢谢大家，欢迎提问。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题解分享</a:t>
            </a:r>
            <a:endParaRPr sz="44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42354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2400" b="0" i="0">
                <a:solidFill>
                  <a:srgbClr val="DCE9F7"/>
                </a:solidFill>
                <a:latin typeface="PingFang SC" panose="020B0400000000000000" charset="-122"/>
                <a:ea typeface="PingFang SC" panose="020B0400000000000000" charset="-122"/>
              </a:rPr>
              <a:t>异或自反性 × 容斥原理</a:t>
            </a:r>
            <a:endParaRPr sz="2400" b="0" i="0">
              <a:solidFill>
                <a:srgbClr val="DCE9F7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0" i="0">
                <a:solidFill>
                  <a:srgbClr val="B9C7DF"/>
                </a:solidFill>
                <a:latin typeface="PingFang SC" panose="020B0400000000000000" charset="-122"/>
                <a:ea typeface="PingFang SC" panose="020B0400000000000000" charset="-122"/>
              </a:rPr>
              <a:t>2026.9.3 集训队个人赛 · 分享交流</a:t>
            </a:r>
            <a:endParaRPr sz="1600" b="0" i="0">
              <a:solidFill>
                <a:srgbClr val="B9C7D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2546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300" b="0" i="0">
                <a:solidFill>
                  <a:srgbClr val="8FA3C4"/>
                </a:solidFill>
                <a:latin typeface="PingFang SC" panose="020B0400000000000000" charset="-122"/>
                <a:ea typeface="PingFang SC" panose="020B0400000000000000" charset="-122"/>
              </a:rPr>
              <a:t>原题：Codeforces Gym 106461 O（QOJ 17727 异或三角形）</a:t>
            </a:r>
            <a:endParaRPr sz="1300" b="0" i="0">
              <a:solidFill>
                <a:srgbClr val="8FA3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题意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23628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给定正整数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，统计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有序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整数对 (a, b) 的数量，满足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1 ≤ a, b &lt; 2^N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条件：存在以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a、b、a ⊕ b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为边长的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非退化三角形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答案对质数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998244353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取模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约束：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1 ≤ N ≤ 10^18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· 时限 2s / 内存 1024MB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N 是 10^18 量级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：按位 DP 不可行 ⇒ 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必须推闭式公式</a:t>
            </a:r>
            <a:endParaRPr sz="21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155680" cy="28511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条件完全由 a、b 的二进制位决定 —— </a:t>
            </a:r>
            <a:r>
              <a:rPr lang="zh-CN"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转化为</a:t>
            </a:r>
            <a:r>
              <a:rPr sz="15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位运算问题</a:t>
            </a:r>
            <a:endParaRPr sz="15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关键观察：a + b ≥ a ⊕ b（四种位情况）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17320"/>
          <a:ext cx="64008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1463040"/>
                <a:gridCol w="1463040"/>
                <a:gridCol w="21031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864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(aᵢ, bᵢ)</a:t>
                      </a:r>
                      <a:endParaRPr sz="1500" b="1" i="0">
                        <a:solidFill>
                          <a:srgbClr val="1F3864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864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加法 aᵢ + bᵢ</a:t>
                      </a:r>
                      <a:endParaRPr sz="1500" b="1" i="0">
                        <a:solidFill>
                          <a:srgbClr val="1F3864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864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异或 aᵢ ⊕ bᵢ</a:t>
                      </a:r>
                      <a:endParaRPr sz="1500" b="1" i="0">
                        <a:solidFill>
                          <a:srgbClr val="1F3864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DCE9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F3864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结论</a:t>
                      </a:r>
                      <a:endParaRPr sz="1500" b="1" i="0">
                        <a:solidFill>
                          <a:srgbClr val="1F3864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DCE9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0 0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0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0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相等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0 1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相等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1 0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相等</a:t>
                      </a:r>
                      <a:endParaRPr sz="1600" b="0" i="0">
                        <a:solidFill>
                          <a:srgbClr val="262626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1 1</a:t>
                      </a:r>
                      <a:endParaRPr sz="1600" b="1" i="0">
                        <a:solidFill>
                          <a:srgbClr val="C55A11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</a:t>
                      </a:r>
                      <a:endParaRPr lang="en-US" altLang="zh-CN" sz="1600" b="1" i="0">
                        <a:solidFill>
                          <a:srgbClr val="C55A11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0</a:t>
                      </a:r>
                      <a:endParaRPr sz="1600" b="1" i="0">
                        <a:solidFill>
                          <a:srgbClr val="C55A11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55A11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和 &gt; 异或</a:t>
                      </a:r>
                      <a:endParaRPr sz="1600" b="1" i="0">
                        <a:solidFill>
                          <a:srgbClr val="C55A11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R="54864" marT="18288" marB="18288"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52360" y="1600200"/>
            <a:ext cx="4206240" cy="7880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只有 </a:t>
            </a:r>
            <a:r>
              <a:rPr sz="18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“11”</a:t>
            </a:r>
            <a:r>
              <a:rPr sz="18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这一行让和变大</a:t>
            </a:r>
            <a:endParaRPr sz="18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18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18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等价恒等式：</a:t>
            </a:r>
            <a:r>
              <a:rPr sz="18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+ b = a ⊕ b + 2(a &amp; b)</a:t>
            </a:r>
            <a:endParaRPr sz="18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10835640" cy="137160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2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a + b ≥ a ⊕ b　取等 ⟺ 没有“11”位 ⟺ </a:t>
            </a:r>
            <a:r>
              <a:rPr sz="22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= 0</a:t>
            </a:r>
            <a:endParaRPr sz="22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800"/>
              </a:spcBef>
            </a:pPr>
            <a:r>
              <a:rPr sz="17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严格大于 ⟺ 至少一位“11” ⟺ </a:t>
            </a:r>
            <a:r>
              <a:rPr sz="17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≠ 0</a:t>
            </a:r>
            <a:r>
              <a:rPr sz="17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—— “和 与 异或 谁大”只由 a &amp; b 是否为 0 决定</a:t>
            </a:r>
            <a:endParaRPr sz="17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2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异或的性质：做两次相同运算无效果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10515600" cy="96012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4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x ⊕ y ⊕ y = x　——　同一个数异或两次，等于没做</a:t>
            </a:r>
            <a:endParaRPr sz="24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应用到本题：c = a ⊕ b，两边同时 ⊕ b ⇒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= b ⊕ c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；两边同时 ⊕ a ⇒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= a ⊕ c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三个数 a、b、c 两两都能通过异或互相转化 ⇒ (a,b)、(b,c)、(a,c) 三组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地位完全对等</a:t>
            </a:r>
            <a:endParaRPr sz="21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4572000"/>
            <a:ext cx="10515600" cy="1051560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不需要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讨论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三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条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边谁最长：直接列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出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三条不等式 a+b &gt; c、b+c &gt; a、a+c &gt; b，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对于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每一条都用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刚才的方法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判断 —— 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不等式左边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的两个数是否至少有一位</a:t>
            </a:r>
            <a:r>
              <a:rPr 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都为</a:t>
            </a:r>
            <a:r>
              <a:rPr lang="en-US" altLang="zh-CN"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1</a:t>
            </a:r>
            <a:endParaRPr sz="20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3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转化：三条不等式 → 三个位条件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155680" cy="3467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对于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三条不等式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逐条用“四种情况小表”判断：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3774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92808"/>
            <a:ext cx="23774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a + b &gt; c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08960" y="1691640"/>
            <a:ext cx="32918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92808"/>
            <a:ext cx="3291840" cy="30035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⟺</a:t>
            </a:r>
            <a:r>
              <a:rPr sz="16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(a, b) 有一位“11”</a:t>
            </a:r>
            <a:endParaRPr sz="16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0" y="1691640"/>
            <a:ext cx="51206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5120640" cy="3467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(a, b) 有一位“11”</a:t>
            </a:r>
            <a:endParaRPr sz="19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715768"/>
            <a:ext cx="23774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16936"/>
            <a:ext cx="23774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b + c &gt; a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108960" y="2715768"/>
            <a:ext cx="32918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2916936"/>
            <a:ext cx="3291840" cy="30035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⟺</a:t>
            </a:r>
            <a:r>
              <a:rPr sz="16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(b, c) 有一位“11”</a:t>
            </a:r>
            <a:endParaRPr sz="16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2715768"/>
            <a:ext cx="51206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898648"/>
            <a:ext cx="5120640" cy="6388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(a, b) 有一位“</a:t>
            </a:r>
            <a:r>
              <a:rPr lang="en-US"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0</a:t>
            </a:r>
            <a:r>
              <a:rPr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1”</a:t>
            </a:r>
            <a:endParaRPr sz="19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sz="19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739896"/>
            <a:ext cx="2377440" cy="86868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41063"/>
            <a:ext cx="2377440" cy="5029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a + c &gt; b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108960" y="3739896"/>
            <a:ext cx="32918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3941063"/>
            <a:ext cx="3291840" cy="30035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⟺</a:t>
            </a:r>
            <a:r>
              <a:rPr sz="16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(a, c) 有一位“11”</a:t>
            </a:r>
            <a:endParaRPr sz="16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3739896"/>
            <a:ext cx="5120640" cy="86868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22776"/>
            <a:ext cx="5120640" cy="6388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⟺　</a:t>
            </a:r>
            <a:r>
              <a:rPr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(a, b) 有一位“1</a:t>
            </a:r>
            <a:r>
              <a:rPr lang="en-US"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0</a:t>
            </a:r>
            <a:r>
              <a:rPr sz="19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”</a:t>
            </a:r>
            <a:endParaRPr sz="19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sz="19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5440680"/>
            <a:ext cx="11155680" cy="82296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lang="en-US" altLang="zh-CN"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存在以a、b、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c为边长</a:t>
            </a:r>
            <a:r>
              <a:rPr lang="en-US" altLang="zh-CN"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的非退化三角形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⟺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(a, b) </a:t>
            </a:r>
            <a:r>
              <a:rPr lang="zh-CN" alt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至少存在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一位“11”</a:t>
            </a:r>
            <a:r>
              <a:rPr lang="zh-CN" alt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、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一位“01”</a:t>
            </a:r>
            <a:r>
              <a:rPr lang="zh-CN" alt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和</a:t>
            </a:r>
            <a:r>
              <a:rPr lang="en-US" alt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一位“10”</a:t>
            </a:r>
            <a:endParaRPr lang="zh-CN" altLang="en-US" sz="2100" b="1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  <a:sym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4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容斥框架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3467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把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上述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三个“条件”定义为三个事件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</a:t>
            </a:r>
            <a:endParaRPr lang="zh-CN"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66160" cy="11430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901952"/>
            <a:ext cx="3474720" cy="9144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E₁ = { a &amp; b = 0 }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566160" cy="11430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01952"/>
            <a:ext cx="3474720" cy="5467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E₂ = { b &amp; c = 0 }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sz="13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1783080"/>
            <a:ext cx="3566160" cy="1143000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01952"/>
            <a:ext cx="3474720" cy="54673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9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E₃ = { a &amp; c = 0 }</a:t>
            </a:r>
            <a:endParaRPr sz="19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endParaRPr sz="13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1155680" cy="3467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indent="457200"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答案 = 全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集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− 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三个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事件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的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并集：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515600" cy="100584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Ans = (2^N − 1)² − |E₁ ∪ E₂ ∪ E₃|</a:t>
            </a:r>
            <a:endParaRPr sz="2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16636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下面逐个计算 |E₁|、|E₂|、|E₃| 与两两交集。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5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计数 ①：|E₁| = 3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− 2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N+1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+ 1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34671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目标：</a:t>
            </a:r>
            <a:r>
              <a:rPr lang="zh-CN"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求</a:t>
            </a:r>
            <a:r>
              <a:rPr sz="19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&amp; b = 0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的对数 —— 两个数没有任何一位“11”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38303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每个 bit </a:t>
            </a:r>
            <a:r>
              <a:rPr lang="zh-CN"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只有三种取值情况：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“</a:t>
            </a:r>
            <a:r>
              <a:rPr 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00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”</a:t>
            </a:r>
            <a:r>
              <a:rPr 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、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“</a:t>
            </a:r>
            <a:r>
              <a:rPr 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01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”</a:t>
            </a:r>
            <a:r>
              <a:rPr lang="zh-CN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、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“</a:t>
            </a:r>
            <a:r>
              <a:rPr lang="en-US"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10</a:t>
            </a:r>
            <a:r>
              <a:rPr sz="2100" b="1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”</a:t>
            </a:r>
            <a:r>
              <a:rPr lang="zh-CN"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，考虑全部</a:t>
            </a:r>
            <a:r>
              <a:rPr lang="en-US" altLang="zh-CN"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lang="zh-CN" altLang="en-US"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位，共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3^</a:t>
            </a:r>
            <a:r>
              <a:rPr lang="en-US"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种</a:t>
            </a:r>
            <a:r>
              <a:rPr lang="zh-CN"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可能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挖掉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a = 0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、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= 0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加回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sz="2100" b="1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a = 0</a:t>
            </a:r>
            <a:r>
              <a:rPr sz="21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、</a:t>
            </a:r>
            <a:r>
              <a:rPr sz="2100" b="1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  <a:sym typeface="+mn-ea"/>
              </a:rPr>
              <a:t>b = 0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463040" y="5029200"/>
            <a:ext cx="9235440" cy="100584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6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|E₁| = 3^N − 2^N − 2^N + 1 = 3^N − 2^(N+1) + 1</a:t>
            </a:r>
            <a:endParaRPr sz="26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6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计数 ②：|E₂| = |E₃| = 3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 − 2</a:t>
            </a:r>
            <a:r>
              <a:rPr sz="2700" b="1" i="0" baseline="30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endParaRPr sz="2700" b="1" i="0" baseline="300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4572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l"/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目标：</a:t>
            </a:r>
            <a:r>
              <a:rPr sz="19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⊆ a</a:t>
            </a:r>
            <a:r>
              <a:rPr sz="19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（按位包含）的对数</a:t>
            </a:r>
            <a:endParaRPr sz="19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38303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每个 bit 只有三种合法状态 (bᵢ, aᵢ) ∈ {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(0,0), (0,1), (1,1)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} ⇒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3^{N}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挖掉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b = 0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：每个 bit 都取 (0,0) 或 (0,1)，共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2^{N}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种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注意此时 a = 0 的情形</a:t>
            </a:r>
            <a:r>
              <a:rPr sz="21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已包含在 b = 0 里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，不用再加回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4526280"/>
            <a:ext cx="10332720" cy="91440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4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|E₂| = 3^N − 2^N　对称地　|E₃| = 3^N − 2^N</a:t>
            </a:r>
            <a:endParaRPr sz="24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5623560"/>
            <a:ext cx="10515600" cy="685800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lang="zh-CN"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注意</a:t>
            </a:r>
            <a:r>
              <a:rPr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|E₂| ≠ |E₁|</a:t>
            </a:r>
            <a:r>
              <a:rPr sz="17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 —— 挖 0 时 E₁ 有交集要加回，E₂ 没有</a:t>
            </a:r>
            <a:endParaRPr sz="1700" b="1" i="0">
              <a:solidFill>
                <a:srgbClr val="C55A1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7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交集与并集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3774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E₁ ∩ E₂ = ∅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：a &amp; b = 0 且 b ⊆ a ⇒ b = 0，与 b ≥ 1 矛盾；E₁ ∩ E₃、三元交同理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1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|E₂ ∩ E₃| = 2^{N} − 1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：b ⊆ a 且 a ⊆ b ⟺ a = b，共 2</a:t>
            </a:r>
            <a:r>
              <a:rPr sz="2100" b="0" i="0" baseline="3000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21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− 1 种取值</a:t>
            </a:r>
            <a:endParaRPr sz="21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3931920"/>
            <a:ext cx="10515600" cy="1828800"/>
          </a:xfrm>
          <a:prstGeom prst="round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20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|E₁ ∪ E₂ ∪ E₃| = (3^N − 2^(N+1) + 1) + 2(3^N − 2^N) − (2^N − 1)</a:t>
            </a:r>
            <a:endParaRPr sz="20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1200"/>
              </a:spcBef>
            </a:pPr>
            <a:r>
              <a:rPr sz="2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= 3^(N+1) − 5·2^N + 2</a:t>
            </a:r>
            <a:endParaRPr sz="2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8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最终公式与样例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280160"/>
          </a:xfrm>
          <a:prstGeom prst="roundRect">
            <a:avLst/>
          </a:prstGeom>
          <a:solidFill>
            <a:srgbClr val="DF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tlCol="0" anchor="ctr"/>
          <a:lstStyle/>
          <a:p>
            <a:pPr algn="ctr"/>
            <a:r>
              <a:rPr sz="3000" b="1" i="0">
                <a:solidFill>
                  <a:srgbClr val="538A4B"/>
                </a:solidFill>
                <a:latin typeface="PingFang SC" panose="020B0400000000000000" charset="-122"/>
                <a:ea typeface="PingFang SC" panose="020B0400000000000000" charset="-122"/>
              </a:rPr>
              <a:t>Ans = 4^N − 3^(N+1) + 3·2^N − 1</a:t>
            </a:r>
            <a:endParaRPr sz="3000" b="1" i="0">
              <a:solidFill>
                <a:srgbClr val="538A4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600"/>
              </a:spcBef>
            </a:pPr>
            <a:r>
              <a:rPr sz="16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(4^N − 2^(N+1) + 1) − (3^(N+1) − 5·2^N + 2)　(mod 998244353)</a:t>
            </a:r>
            <a:endParaRPr sz="16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746885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2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0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：{1, 2, 3} 共 9 对全部退化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5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390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；例如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(13, 24)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：13 ⊕ 24 = 21，且 13+24 &gt; 21、13+21 &gt; 24、21+24 &gt; 13 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N = 10000 →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851087540</a:t>
            </a:r>
            <a:endParaRPr sz="20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三个样例与公式、与代码输出全部一致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9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代码实现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7955279" cy="4983480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56032" tIns="146304" rtlCol="0" anchor="ctr"/>
          <a:lstStyle/>
          <a:p>
            <a:pPr algn="ctr"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#include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bits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/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stdc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h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#define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long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long</a:t>
            </a:r>
            <a:endParaRPr sz="1150" b="1" i="0">
              <a:solidFill>
                <a:srgbClr val="82AAFF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C792EA"/>
                </a:solidFill>
                <a:latin typeface="Menlo" panose="020B0609030804020204"/>
                <a:ea typeface="Menlo" panose="020B0609030804020204"/>
              </a:rPr>
              <a:t>#define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998244353</a:t>
            </a:r>
            <a:endParaRPr sz="1150" b="0" i="0">
              <a:solidFill>
                <a:srgbClr val="F7B267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using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namespace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std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int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while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if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&amp;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a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p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return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res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signed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main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ios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: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: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sync_with_stdio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false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tie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nullptr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cin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cout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&lt;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4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3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endParaRPr sz="1150" b="1" i="0">
              <a:solidFill>
                <a:srgbClr val="7EE8CE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3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*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quick_pow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2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,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-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1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+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)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%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7EE8CE"/>
                </a:solidFill>
                <a:latin typeface="Menlo" panose="020B0609030804020204"/>
                <a:ea typeface="Menlo" panose="020B0609030804020204"/>
              </a:rPr>
              <a:t>MOD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1" i="0">
                <a:solidFill>
                  <a:srgbClr val="82AAFF"/>
                </a:solidFill>
                <a:latin typeface="Menlo" panose="020B0609030804020204"/>
                <a:ea typeface="Menlo" panose="020B0609030804020204"/>
              </a:rPr>
              <a:t>return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 </a:t>
            </a:r>
            <a:r>
              <a:rPr sz="1150" b="0" i="0">
                <a:solidFill>
                  <a:srgbClr val="F7B267"/>
                </a:solidFill>
                <a:latin typeface="Menlo" panose="020B0609030804020204"/>
                <a:ea typeface="Menlo" panose="020B0609030804020204"/>
              </a:rPr>
              <a:t>0</a:t>
            </a: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;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00000"/>
              </a:lnSpc>
              <a:spcAft>
                <a:spcPts val="150"/>
              </a:spcAft>
            </a:pPr>
            <a:r>
              <a:rPr sz="1150" b="0" i="0">
                <a:solidFill>
                  <a:srgbClr val="E2E8F0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 b="0" i="0">
              <a:solidFill>
                <a:srgbClr val="E2E8F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41080" y="1234440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344168"/>
            <a:ext cx="2788920" cy="736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O(log N)</a:t>
            </a:r>
            <a:r>
              <a:rPr sz="16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· </a:t>
            </a:r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O(1)</a:t>
            </a:r>
            <a:endParaRPr sz="16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三次快速幂：2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、3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N+1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、4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N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；时间 O(log N)、空间 O(1)，N = 10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18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 </a:t>
            </a:r>
            <a:r>
              <a:rPr lang="zh-CN"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可过</a:t>
            </a:r>
            <a:endParaRPr lang="zh-CN"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641080" y="2862072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2971800"/>
            <a:ext cx="2788920" cy="73660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负数处理</a:t>
            </a:r>
            <a:endParaRPr sz="16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先 + MOD 再 % MOD，防止负数取模得到负数</a:t>
            </a:r>
            <a:endParaRPr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41080" y="4489704"/>
            <a:ext cx="3063240" cy="1463040"/>
          </a:xfrm>
          <a:prstGeom prst="round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4599432"/>
            <a:ext cx="2788920" cy="1280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r>
              <a:rPr sz="16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溢出分析</a:t>
            </a:r>
            <a:endParaRPr sz="1600" b="1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MOD² ≈ 9.96×10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17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 &lt; 2</a:t>
            </a:r>
            <a:r>
              <a:rPr sz="1250" b="0" i="0" baseline="3000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63</a:t>
            </a:r>
            <a:r>
              <a:rPr sz="125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，long long 直接乘不溢出</a:t>
            </a:r>
            <a:endParaRPr sz="125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10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2920" tIns="73152" rtlCol="0" anchor="ctr"/>
          <a:lstStyle/>
          <a:p>
            <a:pPr algn="ctr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总结：一条套路线</a:t>
            </a:r>
            <a:endParaRPr sz="2700" b="1" i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1148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① 四种位情况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和 vs 异或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154680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9039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59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② 异或自反性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三组对等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6126479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③ 三个位条件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三角形消失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098280" y="1810512"/>
            <a:ext cx="502920" cy="292608"/>
          </a:xfrm>
          <a:prstGeom prst="rightArrow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92640" y="1371600"/>
            <a:ext cx="2331720" cy="1234440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463040"/>
            <a:ext cx="2240280" cy="10972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/>
            <a:r>
              <a:rPr sz="1600" b="1" i="0">
                <a:solidFill>
                  <a:srgbClr val="1F3864"/>
                </a:solidFill>
                <a:latin typeface="PingFang SC" panose="020B0400000000000000" charset="-122"/>
                <a:ea typeface="PingFang SC" panose="020B0400000000000000" charset="-122"/>
              </a:rPr>
              <a:t>④ 容斥计数</a:t>
            </a:r>
            <a:endParaRPr sz="1600" b="1" i="0">
              <a:solidFill>
                <a:srgbClr val="1F3864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闭式公式 + 快速幂</a:t>
            </a:r>
            <a:endParaRPr sz="1300" b="0" i="0">
              <a:solidFill>
                <a:srgbClr val="2E75B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3154680"/>
            <a:ext cx="10515600" cy="1798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1：比较「和」与「异或」→ 列 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00 / 01 / 10 / 11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表，</a:t>
            </a:r>
            <a:r>
              <a:rPr lang="zh-CN"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找规律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2：</a:t>
            </a: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x ⊕ y ⊕ y = x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 让 (a,b)、(b,c)、(a,c) 三组地位对等，不必先比谁最长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可迁移 3：</a:t>
            </a:r>
            <a:r>
              <a:rPr sz="2000" b="1" i="0">
                <a:solidFill>
                  <a:srgbClr val="C55A11"/>
                </a:solidFill>
                <a:latin typeface="PingFang SC" panose="020B0400000000000000" charset="-122"/>
                <a:ea typeface="PingFang SC" panose="020B0400000000000000" charset="-122"/>
              </a:rPr>
              <a:t>挖 0 细节让 |E₂| ≠ |E₁|</a:t>
            </a:r>
            <a:r>
              <a:rPr sz="2000" b="0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；负数先+MOD 再取模</a:t>
            </a:r>
            <a:endParaRPr sz="2000" b="0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E75B6"/>
                </a:solidFill>
                <a:latin typeface="PingFang SC" panose="020B0400000000000000" charset="-122"/>
                <a:ea typeface="PingFang SC" panose="020B0400000000000000" charset="-122"/>
              </a:rPr>
              <a:t>▪ </a:t>
            </a:r>
            <a:r>
              <a:rPr sz="2000" b="1" i="0">
                <a:solidFill>
                  <a:srgbClr val="262626"/>
                </a:solidFill>
                <a:latin typeface="PingFang SC" panose="020B0400000000000000" charset="-122"/>
                <a:ea typeface="PingFang SC" panose="020B0400000000000000" charset="-122"/>
              </a:rPr>
              <a:t>谢谢大家 · 欢迎提问</a:t>
            </a:r>
            <a:endParaRPr sz="2000" b="1" i="0">
              <a:solidFill>
                <a:srgbClr val="2626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66960" y="6473952"/>
            <a:ext cx="17373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r"/>
            <a:r>
              <a:rPr sz="1100" b="0" i="0">
                <a:solidFill>
                  <a:srgbClr val="7F7F7F"/>
                </a:solidFill>
                <a:latin typeface="PingFang SC" panose="020B0400000000000000" charset="-122"/>
                <a:ea typeface="PingFang SC" panose="020B0400000000000000" charset="-122"/>
              </a:rPr>
              <a:t>O. Xor Triangle · 11 / 12</a:t>
            </a:r>
            <a:endParaRPr sz="1100" b="0" i="0">
              <a:solidFill>
                <a:srgbClr val="7F7F7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g4ODM1MzA1YTY2ODFkOGM5ODgxZDNlMTAxYmRhM2Y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3116</Words>
  <Application>WPS 演示</Application>
  <PresentationFormat>On-screen Show (4:3)</PresentationFormat>
  <Paragraphs>235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Arial</vt:lpstr>
      <vt:lpstr>PingFang SC</vt:lpstr>
      <vt:lpstr>Menlo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宋体-简</vt:lpstr>
      <vt:lpstr>Apple Symbols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徐麟阁</cp:lastModifiedBy>
  <cp:revision>17</cp:revision>
  <dcterms:created xsi:type="dcterms:W3CDTF">2026-09-05T01:22:02Z</dcterms:created>
  <dcterms:modified xsi:type="dcterms:W3CDTF">2026-09-05T01:22:02Z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D809D26A516138813B2F9A6AF3BF6AE0_42</vt:lpwstr>
  </property>
  <property fmtid="{D5CDD505-2E9C-101B-9397-08002B2CF9AE}" pid="3" name="KSOProductBuildVer">
    <vt:lpwstr>2052-6.10.1.8873</vt:lpwstr>
  </property>
</Properties>
</file>