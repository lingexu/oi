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大家好！今天分享个人赛 O 题 Xor Triangle，也叫"异或三角形"。这道题代码只有二十行，核心是一条公式：</a:t>
            </a:r>
          </a:p>
          <a:p>
            <a:r>
              <a:t>4^N 减 3^(N+1) 加 3 乘 2^N 再减 1。听上去像背答案，其实背后是两条很漂亮的异或不等式加一个标准容斥。</a:t>
            </a:r>
          </a:p>
          <a:p>
            <a:r>
              <a:t>我会把每一步"为什么这么想"讲清楚，最后再聊两个容易翻车的细节。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先读题：给定 N，统计满足 1 ≤ a,b &lt; 2^N 的有序整数对 (a,b) 有多少个，使得 a、b、a 异或 b 这三个数能构成非退化三角形，</a:t>
            </a:r>
          </a:p>
          <a:p>
            <a:r>
              <a:t>答案对 998244353 取模。注意三点：整数对是有序的，(a,b) 和 (b,a) 算两个；N 可以到 10 的 18 次方，</a:t>
            </a:r>
          </a:p>
          <a:p>
            <a:r>
              <a:t>所以枚举 4^N 对不可能，按位 DP 也至少 O(N)，必须推闭式公式；</a:t>
            </a:r>
          </a:p>
          <a:p>
            <a:r>
              <a:t>另外条件完全由 a、b 的二进制位决定，说明这本质上是一道位运算计数题，不是几何题。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先建立整个解法的地基：两条异或不等式。记 c = a 异或 b。</a:t>
            </a:r>
          </a:p>
          <a:p>
            <a:r>
              <a:t>第一条是上界：c 不超过 a+b。因为 a+b 等于 a 异或 b 再加上 2 倍的 a 按位与 b，所以取等当且仅当 a 按位与 b 等于 0。</a:t>
            </a:r>
          </a:p>
          <a:p>
            <a:r>
              <a:t>第二条是下界：c 不小于 |a−b|。不妨设 a 大于等于 b，c 减去 a−b 等于 2(b − a&amp;b)，非负；</a:t>
            </a:r>
          </a:p>
          <a:p>
            <a:r>
              <a:t>取等当且仅当 b 等于 a&amp;b，也就是 b 的每个 1 位都在 a 里，记作"b 按位包含于 a"。</a:t>
            </a:r>
          </a:p>
          <a:p>
            <a:r>
              <a:t>两条合起来的推论：三角形不等式——两边之和大于第三边、两边之差小于第三边——只会在取等的地方失败，</a:t>
            </a:r>
          </a:p>
          <a:p>
            <a:r>
              <a:t>所以退化当且仅当某条边恰好等于另外两条边之和。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把上一页的三个"取等"翻译成三种退化形式：</a:t>
            </a:r>
          </a:p>
          <a:p>
            <a:r>
              <a:t>c = a+b 等价于 a&amp;b = 0；b = a+c 等价于 a 按位包含于 b；a = b+c 等价于 b 按位包含于 a。</a:t>
            </a:r>
          </a:p>
          <a:p>
            <a:r>
              <a:t>所以非退化当且仅当三个条件同时不成立：a&amp;b 非零，并且 a、b 按位互不包含。</a:t>
            </a:r>
          </a:p>
          <a:p>
            <a:r>
              <a:t>到这里，"三角形"彻底消失了，问题变成三个纯位运算条件的计数。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接下来的动作非常标准：容斥。三个坏条件对应三个坏事件 E1、E2、E3。</a:t>
            </a:r>
          </a:p>
          <a:p>
            <a:r>
              <a:t>全体对数有 (2^N − 1) 的平方个，答案是总数减去坏事件并集的大小。下面逐个计算每一项。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先算 E1：a&amp;b 等于 0，也就是两个数的 1 位完全不重叠。</a:t>
            </a:r>
          </a:p>
          <a:p>
            <a:r>
              <a:t>看低 N 位，每一位有三种去向：只在 a、只在 b、都不在，所以有 3^N 种分配；</a:t>
            </a:r>
          </a:p>
          <a:p>
            <a:r>
              <a:t>但要挖掉 a 等于 0 的 2^N 种和 b 等于 0 的 2^N 种——注意 a = b = 0 被挖了两次，要加回 1 种。</a:t>
            </a:r>
          </a:p>
          <a:p>
            <a:r>
              <a:t>得到 |E1| = 3^N − 2^(N+1) + 1。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再算 E2：a 按位包含于 b。逐位看，(a_i, b_i) 只有三种合法状态：00、01、11，也是 3^N 种；</a:t>
            </a:r>
          </a:p>
          <a:p>
            <a:r>
              <a:t>挖掉 a=0 的 2^N 种。这里有个细节：a=0 的 2^N 种里已经包含了 b=0，不用像 E1 那样再加回。</a:t>
            </a:r>
          </a:p>
          <a:p>
            <a:r>
              <a:t>所以 |E2| = 3^N − 2^N，和 |E1| 不一样——这是这道题最容易翻车的地方：</a:t>
            </a:r>
          </a:p>
          <a:p>
            <a:r>
              <a:t>两个集合从字面上看几乎对称，但"挖 0"的时候一个有交集、一个没有，计数结果天生不同。E3 与 E2 对称，相等。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再看交集。E1 交 E2 是空集：a&amp;b 为 0 又要求 a 包含于 b，只能推出 a = 0，矛盾；</a:t>
            </a:r>
          </a:p>
          <a:p>
            <a:r>
              <a:t>E1 交 E3 和三元交同理。E2 交 E3 是 a = b，共 2^N − 1 对。</a:t>
            </a:r>
          </a:p>
          <a:p>
            <a:r>
              <a:t>把各项代进容斥公式，并集大小化简成 3^(N+1) − 5·2^N + 2。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总对数 (2^N − 1) 的平方展开是 4^N − 2^(N+1) + 1，减去并集，得到最终答案</a:t>
            </a:r>
          </a:p>
          <a:p>
            <a:r>
              <a:t>4^N − 3^(N+1) + 3·2^N − 1。用官方样例核对：N=2 答案是 0；N=5 是 390——</a:t>
            </a:r>
          </a:p>
          <a:p>
            <a:r>
              <a:t>比如 (13,24)，13 异或 24 等于 21，13+24 大于 21、13+21 大于 24、21+24 大于 13，确实构成三角形；</a:t>
            </a:r>
          </a:p>
          <a:p>
            <a:r>
              <a:t>N=10000 是 851087540。全部吻合。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代码二十行：快速幂分别算 2^N、3^(N+1)、4^N 三个幂次，然后套公式输出。</a:t>
            </a:r>
          </a:p>
          <a:p>
            <a:r>
              <a:t>三个细节：一是三次快速幂，复杂度 O(log N)，10 的 18 次方也没压力；</a:t>
            </a:r>
          </a:p>
          <a:p>
            <a:r>
              <a:t>二是减法先加 MOD 再取模，防止 C++ 里负数取模得到负数；</a:t>
            </a:r>
          </a:p>
          <a:p>
            <a:r>
              <a:t>三是乘法不会爆：998244353 的平方大约是 9.96 乘 10 的 17 次方，小于 long long 上限 9.2 乘 10 的 18 次方。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复杂度：时间 O(log N)、空间 O(1)。</a:t>
            </a:r>
          </a:p>
          <a:p>
            <a:r>
              <a:t>为什么只能推公式：枚举是 4^N 对，按位 DP 至少 O(N)，对 10 的 18 次方都不行；</a:t>
            </a:r>
          </a:p>
          <a:p>
            <a:r>
              <a:t>而答案只与 N 有关，暗示闭式公式存在。</a:t>
            </a:r>
          </a:p>
          <a:p>
            <a:r>
              <a:t>最后送一个彩蛋：合法三角形一定三边互异——a 等于 b 会推出 c 等于 0，a 等于 c 会推出 b 等于 0，</a:t>
            </a:r>
          </a:p>
          <a:p>
            <a:r>
              <a:t>所以 N 等于 1、2 时答案是 0 并不奇怪。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总结一下套路链：先用两条异或不等式把"三角形"翻译成三个位运算条件，</a:t>
            </a:r>
          </a:p>
          <a:p>
            <a:r>
              <a:t>再定义三个坏事件做标准容斥，逐项计数得到闭式公式，最后快速幂求值。</a:t>
            </a:r>
          </a:p>
          <a:p>
            <a:r>
              <a:t>三个可迁移的点：第一，遇到"异或 + 大小比较"，先想到 a+b = a⊕b + 2(a&amp;b) 这个恒等式；</a:t>
            </a:r>
          </a:p>
          <a:p>
            <a:r>
              <a:t>第二，容斥计数时每个集合单独算，"挖 0"的细节会让表面对称的集合大小不同；</a:t>
            </a:r>
          </a:p>
          <a:p>
            <a:r>
              <a:t>第三，取模技巧——负数先加 MOD，模数平方小于 2 的 63 次方可以放心乘。</a:t>
            </a:r>
          </a:p>
          <a:p>
            <a:r>
              <a:t>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题解分享</a:t>
            </a:r>
            <a:endParaRPr sz="44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42354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400" b="0" i="0">
                <a:solidFill>
                  <a:srgbClr val="DCE9F7"/>
                </a:solidFill>
                <a:latin typeface="PingFang SC" panose="020B0400000000000000" charset="-122"/>
                <a:ea typeface="PingFang SC" panose="020B0400000000000000" charset="-122"/>
              </a:rPr>
              <a:t>异或不等式 </a:t>
            </a:r>
            <a:r>
              <a:rPr lang="en-US" sz="2400" b="0" i="0">
                <a:solidFill>
                  <a:srgbClr val="DCE9F7"/>
                </a:solidFill>
                <a:latin typeface="PingFang SC" panose="020B0400000000000000" charset="-122"/>
                <a:ea typeface="PingFang SC" panose="020B0400000000000000" charset="-122"/>
              </a:rPr>
              <a:t>&amp;</a:t>
            </a:r>
            <a:r>
              <a:rPr sz="2400" b="0" i="0">
                <a:solidFill>
                  <a:srgbClr val="DCE9F7"/>
                </a:solidFill>
                <a:latin typeface="PingFang SC" panose="020B0400000000000000" charset="-122"/>
                <a:ea typeface="PingFang SC" panose="020B0400000000000000" charset="-122"/>
              </a:rPr>
              <a:t> 容斥原理</a:t>
            </a:r>
            <a:endParaRPr sz="2400" b="0" i="0">
              <a:solidFill>
                <a:srgbClr val="DCE9F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30035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0" i="0">
                <a:solidFill>
                  <a:srgbClr val="B9C7DF"/>
                </a:solidFill>
                <a:latin typeface="PingFang SC" panose="020B0400000000000000" charset="-122"/>
                <a:ea typeface="PingFang SC" panose="020B0400000000000000" charset="-122"/>
              </a:rPr>
              <a:t>2026.9.3 集训队</a:t>
            </a:r>
            <a:r>
              <a:rPr lang="zh-CN" sz="1600" b="0" i="0">
                <a:solidFill>
                  <a:srgbClr val="B9C7DF"/>
                </a:solidFill>
                <a:latin typeface="PingFang SC" panose="020B0400000000000000" charset="-122"/>
                <a:ea typeface="PingFang SC" panose="020B0400000000000000" charset="-122"/>
              </a:rPr>
              <a:t>训练</a:t>
            </a:r>
            <a:r>
              <a:rPr sz="1600" b="0" i="0">
                <a:solidFill>
                  <a:srgbClr val="B9C7DF"/>
                </a:solidFill>
                <a:latin typeface="PingFang SC" panose="020B0400000000000000" charset="-122"/>
                <a:ea typeface="PingFang SC" panose="020B0400000000000000" charset="-122"/>
              </a:rPr>
              <a:t>赛 · 分享交流</a:t>
            </a:r>
            <a:endParaRPr sz="1600" b="0" i="0">
              <a:solidFill>
                <a:srgbClr val="B9C7D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25463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300" b="0" i="0">
                <a:solidFill>
                  <a:srgbClr val="8FA3C4"/>
                </a:solidFill>
                <a:latin typeface="PingFang SC" panose="020B0400000000000000" charset="-122"/>
                <a:ea typeface="PingFang SC" panose="020B0400000000000000" charset="-122"/>
              </a:rPr>
              <a:t>原题：Codeforces Gym 106461 O（QOJ 17727 异或三角形）</a:t>
            </a:r>
            <a:endParaRPr sz="1300" b="0" i="0">
              <a:solidFill>
                <a:srgbClr val="8FA3C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题意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236283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给定正整数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，统计</a:t>
            </a:r>
            <a:r>
              <a:rPr sz="21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有序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整数对 (a, b) 的数量，满足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1 ≤ a, b &lt; 2^N</a:t>
            </a:r>
            <a:endParaRPr sz="21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条件：存在以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a、b、a ⊕ b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为边长的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非退化三角形</a:t>
            </a:r>
            <a:endParaRPr sz="21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答案对质数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998244353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取模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约束：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1 ≤ N ≤ 10^18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· 时限 2s / 内存 1024MB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N 是 10^18 量级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：按位 DP 的 O(N) 不可行 ⇒ </a:t>
            </a:r>
            <a:r>
              <a:rPr sz="21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必须推闭式公式</a:t>
            </a:r>
            <a:endParaRPr sz="21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直觉提示：条件完全由 a、b 的二进制位决定 —— 几何问题其实是位运算问题</a:t>
            </a:r>
            <a:endParaRPr sz="15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1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关键观察：两条异或不等式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515600" cy="105156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2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记 c = a ⊕ b，对任意正整数 a、b 恒成立两条不等式：</a:t>
            </a:r>
            <a:endParaRPr sz="22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3017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① 上界　c ≤ a + b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：因为 </a:t>
            </a:r>
            <a:r>
              <a:rPr sz="20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a + b = a ⊕ b + 2(a &amp; b)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，取等 ⟺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&amp; b = 0</a:t>
            </a:r>
            <a:endParaRPr sz="20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② 下界　c ≥ |a − b|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：不妨 a ≥ b，c − (a−b) = 2(b − a&amp;b) ≥ 0，取等 ⟺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b ⊆ a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（按位包含）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对称地，a ≤ b 时取等 ⟺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⊆ b</a:t>
            </a:r>
            <a:endParaRPr sz="20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7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推论：三角形不等式只在“取等”处失败 —— 退化 ⟺ 有一条边恰好等于另外两条边之和</a:t>
            </a:r>
            <a:endParaRPr sz="17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2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转化：退化 ⟺ 三个条件之一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记 c = a ⊕ b。构不成非退化三角形 ⟺ 下列三者之一成立（对应一次“取等”）：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83464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8346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c = a + b</a:t>
            </a:r>
            <a:endParaRPr sz="20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457200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457200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⟺　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&amp; b = 0</a:t>
            </a:r>
            <a:endParaRPr sz="20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3832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上界取等</a:t>
            </a:r>
            <a:endParaRPr sz="15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283464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28346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b = a + c</a:t>
            </a:r>
            <a:endParaRPr sz="20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66160" y="2880360"/>
            <a:ext cx="457200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063240"/>
            <a:ext cx="457200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⟺　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⊆ b</a:t>
            </a:r>
            <a:r>
              <a:rPr sz="20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（按位）</a:t>
            </a:r>
            <a:endParaRPr sz="20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3063240"/>
            <a:ext cx="33832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下界取等</a:t>
            </a:r>
            <a:endParaRPr sz="15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283464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28346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a = b + c</a:t>
            </a:r>
            <a:endParaRPr sz="20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66160" y="3931920"/>
            <a:ext cx="457200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114800"/>
            <a:ext cx="457200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⟺　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b ⊆ a</a:t>
            </a:r>
            <a:r>
              <a:rPr sz="20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（按位）</a:t>
            </a:r>
            <a:endParaRPr sz="20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4114800"/>
            <a:ext cx="33832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下界取等，对称</a:t>
            </a:r>
            <a:endParaRPr sz="15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1155680" cy="91440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2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非退化</a:t>
            </a:r>
            <a:r>
              <a:rPr sz="22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⟺ 三个条件同时不成立：</a:t>
            </a:r>
            <a:r>
              <a:rPr sz="22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&amp; b ≠ 0</a:t>
            </a:r>
            <a:r>
              <a:rPr sz="22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且 </a:t>
            </a:r>
            <a:r>
              <a:rPr sz="22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a、b 按位互不包含</a:t>
            </a:r>
            <a:endParaRPr sz="22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3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容斥框架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把三个“坏条件”定义为三个坏事件（按位）：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6616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84248"/>
            <a:ext cx="356616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E₁ = { a &amp; b = 0 }</a:t>
            </a:r>
            <a:endParaRPr sz="20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56616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984248"/>
            <a:ext cx="356616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E₂ = { a ⊆ b }</a:t>
            </a:r>
            <a:endParaRPr sz="20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38160" y="1783080"/>
            <a:ext cx="356616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84248"/>
            <a:ext cx="356616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E₃ = { b ⊆ a }</a:t>
            </a:r>
            <a:endParaRPr sz="20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全体对数 (2</a:t>
            </a:r>
            <a:r>
              <a:rPr sz="19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− 1)² = </a:t>
            </a:r>
            <a:r>
              <a:rPr sz="19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4^{N} − 2^{N+1} + 1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，答案 = 全体 − 坏事件并集：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40"/>
            <a:ext cx="10515600" cy="100584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2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Ans = (2^N − 1)² − |E₁ ∪ E₂ ∪ E₃|</a:t>
            </a:r>
            <a:endParaRPr sz="2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下面逐个计算 |E₁|、|E₂|、|E₃| 与两两交集。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4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计数 ①：|E₁| = 3</a:t>
            </a:r>
            <a:r>
              <a:rPr sz="2700" b="1" i="0" baseline="30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− 2</a:t>
            </a:r>
            <a:r>
              <a:rPr sz="2700" b="1" i="0" baseline="30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N+1</a:t>
            </a:r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+ 1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目标：</a:t>
            </a:r>
            <a:r>
              <a:rPr sz="19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&amp; b = 0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的对数（a, b ∈ [1, 2</a:t>
            </a:r>
            <a:r>
              <a:rPr sz="19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)）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1089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每个 bit 三选一 { 只在 a / 只在 b / 都不在 } ⇒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3^{N}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种分配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挖掉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= 0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（每个 bit 都选“只在 b / 都不在”，2</a:t>
            </a:r>
            <a:r>
              <a:rPr sz="21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种）、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b = 0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（同理 2</a:t>
            </a:r>
            <a:r>
              <a:rPr sz="21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种）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加回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a = b = 0：两边各挖了一次，多挖 1 种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63040" y="5029200"/>
            <a:ext cx="9235440" cy="1005840"/>
          </a:xfrm>
          <a:prstGeom prst="roundRect">
            <a:avLst/>
          </a:prstGeom>
          <a:solidFill>
            <a:srgbClr val="DF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600" b="1" i="0">
                <a:solidFill>
                  <a:srgbClr val="538A4B"/>
                </a:solidFill>
                <a:latin typeface="PingFang SC" panose="020B0400000000000000" charset="-122"/>
                <a:ea typeface="PingFang SC" panose="020B0400000000000000" charset="-122"/>
              </a:rPr>
              <a:t>|E₁| = 3^N − 2^N − 2^N + 1 = 3^N − 2^(N+1) + 1</a:t>
            </a:r>
            <a:endParaRPr sz="2600" b="1" i="0">
              <a:solidFill>
                <a:srgbClr val="538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5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计数 ②：|E₂| = |E₃| = 3</a:t>
            </a:r>
            <a:r>
              <a:rPr sz="2700" b="1" i="0" baseline="30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− 2</a:t>
            </a:r>
            <a:r>
              <a:rPr sz="2700" b="1" i="0" baseline="30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endParaRPr sz="2700" b="1" i="0" baseline="300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目标：</a:t>
            </a:r>
            <a:r>
              <a:rPr sz="19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⊆ b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（按位包含）的对数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651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每个 bit 只有三种合法状态 (aᵢ, bᵢ) ∈ {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(0,0), (0,1), (1,1)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} ⇒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3^{N}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种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挖掉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= 0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：每个 bit 都取 (0,0) 或 (0,1)，共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2^{N}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种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注意：此时 b = 0 的情形</a:t>
            </a:r>
            <a:r>
              <a:rPr sz="21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已包含在 a = 0 里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，不用再加回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10332720" cy="914400"/>
          </a:xfrm>
          <a:prstGeom prst="roundRect">
            <a:avLst/>
          </a:prstGeom>
          <a:solidFill>
            <a:srgbClr val="DF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400" b="1" i="0">
                <a:solidFill>
                  <a:srgbClr val="538A4B"/>
                </a:solidFill>
                <a:latin typeface="PingFang SC" panose="020B0400000000000000" charset="-122"/>
                <a:ea typeface="PingFang SC" panose="020B0400000000000000" charset="-122"/>
              </a:rPr>
              <a:t>|E₂| = 3^N − 2^N　对称地　|E₃| = 3^N − 2^N</a:t>
            </a:r>
            <a:endParaRPr sz="2400" b="1" i="0">
              <a:solidFill>
                <a:srgbClr val="538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5623560"/>
            <a:ext cx="10515600" cy="685800"/>
          </a:xfrm>
          <a:prstGeom prst="round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17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易错点：|E₂| ≠ |E₁|</a:t>
            </a:r>
            <a:r>
              <a:rPr sz="17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 —— 挖 0 时 E₁ 有交集要加回，E₂ 没有，两个集合天生不对称，别套模板</a:t>
            </a:r>
            <a:endParaRPr sz="17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6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交集与并集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E₁ ∩ E₂ = ∅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：a &amp; b = 0 且 a ⊆ b ⇒ a = 0，与 a ≥ 1 矛盾；E₁ ∩ E₃、三元交同理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|E₂ ∩ E₃| = 2^{N} − 1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：a ⊆ b 且 b ⊆ a ⟺ a = b，共 2</a:t>
            </a:r>
            <a:r>
              <a:rPr sz="21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− 1 种取值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10515600" cy="182880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0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|E₁ ∪ E₂ ∪ E₃| = (3^N − 2^(N+1) + 1) + 2(3^N − 2^N) − (2^N − 1)</a:t>
            </a:r>
            <a:endParaRPr sz="20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1200"/>
              </a:spcBef>
            </a:pPr>
            <a:r>
              <a:rPr sz="2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= 3^(N+1) − 5·2^N + 2</a:t>
            </a:r>
            <a:endParaRPr sz="2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7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最终公式与样例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280160"/>
          </a:xfrm>
          <a:prstGeom prst="roundRect">
            <a:avLst/>
          </a:prstGeom>
          <a:solidFill>
            <a:srgbClr val="DF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3000" b="1" i="0">
                <a:solidFill>
                  <a:srgbClr val="538A4B"/>
                </a:solidFill>
                <a:latin typeface="PingFang SC" panose="020B0400000000000000" charset="-122"/>
                <a:ea typeface="PingFang SC" panose="020B0400000000000000" charset="-122"/>
              </a:rPr>
              <a:t>Ans = 4^N − 3^(N+1) + 3·2^N − 1</a:t>
            </a:r>
            <a:endParaRPr sz="3000" b="1" i="0">
              <a:solidFill>
                <a:srgbClr val="538A4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(4^N − 2^(N+1) + 1) − (3^(N+1) − 5·2^N + 2)　(mod 998244353)</a:t>
            </a:r>
            <a:endParaRPr sz="16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31089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 = 2 →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0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：{1, 2, 3} 共 9 对全部退化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 = 5 →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390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；例如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(13, 24)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：13 ⊕ 24 = 21，且 13+24 &gt; 21、13+21 &gt; 24、21+24 &gt; 13 ✓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 = 10000 →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851087540</a:t>
            </a:r>
            <a:endParaRPr sz="20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三个样例与公式、与代码输出全部一致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8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代码实现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7955279" cy="49834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6032" tIns="146304" rtlCol="0" anchor="ctr"/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C792EA"/>
                </a:solidFill>
                <a:latin typeface="Menlo" panose="020B0609030804020204"/>
                <a:ea typeface="Menlo" panose="020B0609030804020204"/>
              </a:rPr>
              <a:t>#include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&lt;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bits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/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stdc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h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C792EA"/>
                </a:solidFill>
                <a:latin typeface="Menlo" panose="020B0609030804020204"/>
                <a:ea typeface="Menlo" panose="020B0609030804020204"/>
              </a:rPr>
              <a:t>#define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long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long</a:t>
            </a:r>
            <a:endParaRPr sz="1150" b="1" i="0">
              <a:solidFill>
                <a:srgbClr val="82AAFF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C792EA"/>
                </a:solidFill>
                <a:latin typeface="Menlo" panose="020B0609030804020204"/>
                <a:ea typeface="Menlo" panose="020B0609030804020204"/>
              </a:rPr>
              <a:t>#define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998244353</a:t>
            </a:r>
            <a:endParaRPr sz="1150" b="0" i="0">
              <a:solidFill>
                <a:srgbClr val="F7B267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using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namespace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std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quick_pow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p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{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res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while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p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{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if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p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&amp;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res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res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*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*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p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return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res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signed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main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{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ios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: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: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sync_with_stdio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false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cin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tie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nullptr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cin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cout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&lt;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&lt;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quick_pow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4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-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quick_pow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3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endParaRPr sz="1150" b="1" i="0">
              <a:solidFill>
                <a:srgbClr val="7EE8CE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3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*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quick_pow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2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-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return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0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1234440"/>
            <a:ext cx="3063240" cy="14630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44168"/>
            <a:ext cx="2788920" cy="12801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O(log N)</a:t>
            </a:r>
            <a:r>
              <a:rPr sz="16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快速幂</a:t>
            </a:r>
            <a:endParaRPr sz="16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只算 2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、3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N+1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、4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 三个幂次，N = 10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18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 也轻松</a:t>
            </a:r>
            <a:endParaRPr sz="125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41080" y="2862072"/>
            <a:ext cx="3063240" cy="14630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971800"/>
            <a:ext cx="2788920" cy="12801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负数处理</a:t>
            </a:r>
            <a:endParaRPr sz="16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先 + MOD 再 % MOD，防止 C++ 负数取模得到负数</a:t>
            </a:r>
            <a:endParaRPr sz="125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41080" y="4489704"/>
            <a:ext cx="3063240" cy="14630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4599432"/>
            <a:ext cx="2788920" cy="12801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溢出分析</a:t>
            </a:r>
            <a:endParaRPr sz="16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MOD² ≈ 9.96×10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17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 &lt; 2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63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，long long 直接乘不溢出</a:t>
            </a:r>
            <a:endParaRPr sz="125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41080" y="6035040"/>
            <a:ext cx="306324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2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完整代码见同目录「O.cpp」</a:t>
            </a:r>
            <a:endParaRPr sz="12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9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复杂度与更多观察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120640" cy="914400"/>
          </a:xfrm>
          <a:prstGeom prst="roundRect">
            <a:avLst/>
          </a:prstGeom>
          <a:solidFill>
            <a:srgbClr val="DFECD8"/>
          </a:solidFill>
          <a:ln w="15240">
            <a:solidFill>
              <a:srgbClr val="538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1206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2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时间复杂度　</a:t>
            </a:r>
            <a:r>
              <a:rPr sz="22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O(log N)</a:t>
            </a:r>
            <a:endParaRPr sz="22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20640" cy="914400"/>
          </a:xfrm>
          <a:prstGeom prst="roundRect">
            <a:avLst/>
          </a:prstGeom>
          <a:solidFill>
            <a:srgbClr val="DFECD8"/>
          </a:solidFill>
          <a:ln w="15240">
            <a:solidFill>
              <a:srgbClr val="538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600200"/>
            <a:ext cx="51206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2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空间复杂度　</a:t>
            </a:r>
            <a:r>
              <a:rPr sz="22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O(1)</a:t>
            </a:r>
            <a:endParaRPr sz="22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1737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为什么只能推公式：枚举 4</a:t>
            </a:r>
            <a:r>
              <a:rPr sz="20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对、按位 DP 至少 O(N)，对 10</a:t>
            </a:r>
            <a:r>
              <a:rPr sz="20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18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都不可行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答案只与 N 有关（a、b 不出现），暗示闭式公式存在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515600" cy="137160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19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彩蛋：合法三角形一定三边互异</a:t>
            </a:r>
            <a:endParaRPr sz="19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Bef>
                <a:spcPts val="500"/>
              </a:spcBef>
            </a:pPr>
            <a:r>
              <a:rPr sz="17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a = b ⇒ c = 0；a = c ⟺ a = a ⊕ b ⟺ b = 0（矛盾）；b = c 同理。所以 N = 1、2 时答案为 0 并不奇怪。</a:t>
            </a:r>
            <a:endParaRPr sz="17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10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总结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240280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① 两条不等式</a:t>
            </a:r>
            <a:endParaRPr sz="1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上界与下界</a:t>
            </a:r>
            <a:endParaRPr sz="1300" b="0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154680" y="1810512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9039" y="137160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463040"/>
            <a:ext cx="2240280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② 取等条件</a:t>
            </a:r>
            <a:endParaRPr sz="1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三个坏事件</a:t>
            </a:r>
            <a:endParaRPr sz="1300" b="0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126479" y="1810512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1463040"/>
            <a:ext cx="2240280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③ 容斥计数</a:t>
            </a:r>
            <a:endParaRPr sz="1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逐项计算</a:t>
            </a:r>
            <a:endParaRPr sz="1300" b="0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9098280" y="1810512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137160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1463040"/>
            <a:ext cx="2240280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④ 闭式公式</a:t>
            </a:r>
            <a:endParaRPr sz="1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快速幂 O(log N)</a:t>
            </a:r>
            <a:endParaRPr sz="1300" b="0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10515600" cy="3017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可迁移 1：遇到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“异或 + 大小比较”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先想到恒等式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+ b = a ⊕ b + 2(a &amp; b)</a:t>
            </a:r>
            <a:endParaRPr sz="20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可迁移 2：</a:t>
            </a:r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容斥计数时每个集合单独算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—— 挖 0 的细节让 |E₂| ≠ |E₁|，对称要小心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可迁移 3：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负数先 +MOD 再取模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；MOD² &lt; 2</a:t>
            </a:r>
            <a:r>
              <a:rPr sz="20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63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，long long 安全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谢谢大家 · 欢迎提问</a:t>
            </a:r>
            <a:endParaRPr sz="20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11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g4ODM1MzA1YTY2ODFkOGM5ODgxZDNlMTAxYmRhM2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3148</Words>
  <Application>WPS 演示</Application>
  <PresentationFormat>On-screen Show (4:3)</PresentationFormat>
  <Paragraphs>197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Arial</vt:lpstr>
      <vt:lpstr>PingFang SC</vt:lpstr>
      <vt:lpstr>Menlo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宋体-简</vt:lpstr>
      <vt:lpstr>Apple Symbols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徐麟阁</cp:lastModifiedBy>
  <cp:revision>5</cp:revision>
  <dcterms:created xsi:type="dcterms:W3CDTF">2026-09-03T16:29:29Z</dcterms:created>
  <dcterms:modified xsi:type="dcterms:W3CDTF">2026-09-03T16:29:29Z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ADA1A2F18C3BF5FB048C996A91FC613E_42</vt:lpwstr>
  </property>
  <property fmtid="{D5CDD505-2E9C-101B-9397-08002B2CF9AE}" pid="3" name="KSOProductBuildVer">
    <vt:lpwstr>2052-6.10.1.8873</vt:lpwstr>
  </property>
</Properties>
</file>